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9144000"/>
  <p:embeddedFontLst>
    <p:embeddedFont>
      <p:font typeface="Quattrocento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i+jxRS4ca7dASxN7tZL+IUDpgg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QuattrocentoSans-bold.fntdata"/><Relationship Id="rId27" Type="http://schemas.openxmlformats.org/officeDocument/2006/relationships/font" Target="fonts/Quattrocento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Quattrocento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Quattrocento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2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fmla="val 16667" name="adj"/>
            </a:avLst>
          </a:prstGeom>
          <a:solidFill>
            <a:srgbClr val="0D0D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914400" y="1097280"/>
            <a:ext cx="10058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EMBEDDED LINUX ENGINEERING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Từ Lý Thuyết Đến Thực Tiễn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Linux Kernel • SoC/MCU Architecture • Boot Process • Real-time Control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914400" y="5486400"/>
            <a:ext cx="100584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Bài chia sẻ cho Embedded Linux Engineer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3859198" y="5934825"/>
            <a:ext cx="290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Author: Nguyễn Nhựt Ninh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2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I. LINUX LÀ GÌ?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731520" y="1005840"/>
            <a:ext cx="10058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</a:t>
            </a:r>
            <a:r>
              <a:rPr b="0" i="0" lang="en-US" sz="15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Linux = Nhân hệ điều hành (Kernel) quản lý tài nguyên máy tính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</a:t>
            </a:r>
            <a:r>
              <a:rPr b="0" i="0" lang="en-US" sz="15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Linux Distro = Kernel + công cụ + thư viện + ứng dụng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</a:t>
            </a:r>
            <a:r>
              <a:rPr b="0" i="0" lang="en-US" sz="15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Phần mềm Mã Mở (Open Source) — anyone có thể xem, modify, phân phối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</a:t>
            </a:r>
            <a:r>
              <a:rPr b="0" i="0" lang="en-US" sz="15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 triệu dòng code (Linux 6.0), được review bởi hàng triệu developer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731520" y="347472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Các Distro Phổ Biến:</a:t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731520" y="3931920"/>
            <a:ext cx="2743200" cy="50292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868680" y="400507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Ubuntu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2148840" y="4005072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Thân thiện, dễ dùng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731520" y="4480559"/>
            <a:ext cx="2743200" cy="50292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868680" y="455371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Debian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2148840" y="4553712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Ổn định, reliable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731520" y="5029199"/>
            <a:ext cx="2743200" cy="50292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868680" y="5102351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 Hat / CentOS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2148840" y="5102351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Enterprise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731520" y="5577839"/>
            <a:ext cx="2743200" cy="50292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868680" y="5650991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Yocto / Buildroot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2148840" y="5650991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Embedded Linux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731520" y="6126479"/>
            <a:ext cx="2743200" cy="50292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868680" y="6199631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Android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2148840" y="6199631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Mobile Linux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3931920" y="3474720"/>
            <a:ext cx="75895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</a:t>
            </a:r>
            <a:r>
              <a:rPr b="0" i="0" lang="en-US" sz="14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Ưu điểm: Open Source, Miễn phí, Bảo mật cao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</a:t>
            </a:r>
            <a:r>
              <a:rPr b="0" i="0" lang="en-US" sz="14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Ổn định &amp; Tin cậy: 90%+ server internet sử dụng Linux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</a:t>
            </a:r>
            <a:r>
              <a:rPr b="0" i="0" lang="en-US" sz="14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Portable: x86, ARM, MIPS — từ server đến IoT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</a:t>
            </a:r>
            <a:r>
              <a:rPr b="0" i="0" lang="en-US" sz="14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Cộng đồng lớn: triệu lập trình viên hỗ trợ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2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II. LINUX CÓ MẶT Ở ĐÂU?</a:t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457200" y="1097280"/>
            <a:ext cx="3474720" cy="256032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00D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594360" y="123444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🏠 Nhà Cửa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594360" y="1828800"/>
            <a:ext cx="3200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Router WiFi, Smart TV, Smart Devices</a:t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4389120" y="1097280"/>
            <a:ext cx="3474720" cy="256032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4526280" y="123444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🛣 Đường Phố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4526280" y="1828800"/>
            <a:ext cx="3200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Traffic lights, ADAS, Xe tự lái</a:t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8321040" y="1097280"/>
            <a:ext cx="3474720" cy="256032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00D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8458200" y="123444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☁️ Cloud</a:t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8458200" y="1828800"/>
            <a:ext cx="3200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Netflix, AWS, Google — backend Linux</a:t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457200" y="3840480"/>
            <a:ext cx="3474720" cy="256032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594360" y="397764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🏭 Công Nghiệp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594360" y="4572000"/>
            <a:ext cx="3200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IoT, Robot, CNC machines</a:t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4389120" y="3840480"/>
            <a:ext cx="3474720" cy="256032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00D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4526280" y="397764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📱 Smartphone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4526280" y="4572000"/>
            <a:ext cx="3200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Android (70%+ phones worldwide)</a:t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8321040" y="3840480"/>
            <a:ext cx="3474720" cy="256032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8458200" y="397764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🚀 Trên Trời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8458200" y="4572000"/>
            <a:ext cx="3200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Vệ tinh, Máy bay, SpaceX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2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III. EMBEDDED LINUX LÀ GÌ?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731520" y="1005840"/>
            <a:ext cx="54864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</a:t>
            </a:r>
            <a:r>
              <a:rPr b="0" i="0" lang="en-US" sz="14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Embedded Linux = Linux Kernel được tối ưu hoá + nhúng vào thiết bị cụ thể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</a:t>
            </a:r>
            <a:r>
              <a:rPr b="0" i="0" lang="en-US" sz="14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Không phải OS mục đích chung mà OS custom cho ứng dụng cụ thể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</a:t>
            </a:r>
            <a:r>
              <a:rPr b="0" i="0" lang="en-US" sz="14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Thường chạy trên kiến trúc ARM (phổ biến nhất trong embedded)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</a:t>
            </a:r>
            <a:r>
              <a:rPr b="0" i="0" lang="en-US" sz="14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Kích thước: MB → vài GB (không phải 100GB+ như Desktop)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</a:t>
            </a:r>
            <a:r>
              <a:rPr b="0" i="0" lang="en-US" sz="14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Boot time: vài giây → ms (tối ưu hoá cao)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6400800" y="100584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Desktop vs Embedded Linux</a:t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6400800" y="1554480"/>
            <a:ext cx="5303520" cy="41148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FF8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6537960" y="160020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8C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Mục đích</a:t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7772400" y="160020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Chung</a:t>
            </a:r>
            <a:endParaRPr/>
          </a:p>
        </p:txBody>
      </p:sp>
      <p:sp>
        <p:nvSpPr>
          <p:cNvPr id="151" name="Google Shape;151;p4"/>
          <p:cNvSpPr txBox="1"/>
          <p:nvPr/>
        </p:nvSpPr>
        <p:spPr>
          <a:xfrm>
            <a:off x="9601200" y="16002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Cụ thể</a:t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6400800" y="2029967"/>
            <a:ext cx="5303520" cy="41148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FF8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6537960" y="2075687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8C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Kích thước</a:t>
            </a:r>
            <a:endParaRPr/>
          </a:p>
        </p:txBody>
      </p:sp>
      <p:sp>
        <p:nvSpPr>
          <p:cNvPr id="154" name="Google Shape;154;p4"/>
          <p:cNvSpPr txBox="1"/>
          <p:nvPr/>
        </p:nvSpPr>
        <p:spPr>
          <a:xfrm>
            <a:off x="7772400" y="2075687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100GB+</a:t>
            </a:r>
            <a:endParaRPr/>
          </a:p>
        </p:txBody>
      </p:sp>
      <p:sp>
        <p:nvSpPr>
          <p:cNvPr id="155" name="Google Shape;155;p4"/>
          <p:cNvSpPr txBox="1"/>
          <p:nvPr/>
        </p:nvSpPr>
        <p:spPr>
          <a:xfrm>
            <a:off x="9601200" y="2075687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MB → GB</a:t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6400800" y="2505456"/>
            <a:ext cx="5303520" cy="41148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FF8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6537960" y="2551175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8C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Boot time</a:t>
            </a:r>
            <a:endParaRPr/>
          </a:p>
        </p:txBody>
      </p:sp>
      <p:sp>
        <p:nvSpPr>
          <p:cNvPr id="158" name="Google Shape;158;p4"/>
          <p:cNvSpPr txBox="1"/>
          <p:nvPr/>
        </p:nvSpPr>
        <p:spPr>
          <a:xfrm>
            <a:off x="7772400" y="2551175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Vài phút</a:t>
            </a:r>
            <a:endParaRPr/>
          </a:p>
        </p:txBody>
      </p:sp>
      <p:sp>
        <p:nvSpPr>
          <p:cNvPr id="159" name="Google Shape;159;p4"/>
          <p:cNvSpPr txBox="1"/>
          <p:nvPr/>
        </p:nvSpPr>
        <p:spPr>
          <a:xfrm>
            <a:off x="9601200" y="2551175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Vài giây</a:t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6400800" y="2980944"/>
            <a:ext cx="5303520" cy="41148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FF8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6537960" y="3026663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8C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Memory</a:t>
            </a:r>
            <a:endParaRPr/>
          </a:p>
        </p:txBody>
      </p:sp>
      <p:sp>
        <p:nvSpPr>
          <p:cNvPr id="162" name="Google Shape;162;p4"/>
          <p:cNvSpPr txBox="1"/>
          <p:nvPr/>
        </p:nvSpPr>
        <p:spPr>
          <a:xfrm>
            <a:off x="7772400" y="3026663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GB</a:t>
            </a:r>
            <a:endParaRPr/>
          </a:p>
        </p:txBody>
      </p:sp>
      <p:sp>
        <p:nvSpPr>
          <p:cNvPr id="163" name="Google Shape;163;p4"/>
          <p:cNvSpPr txBox="1"/>
          <p:nvPr/>
        </p:nvSpPr>
        <p:spPr>
          <a:xfrm>
            <a:off x="9601200" y="3026663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MB → GB</a:t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6400800" y="3456432"/>
            <a:ext cx="5303520" cy="41148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FF8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6537960" y="3502151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8C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CPU</a:t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7772400" y="3502151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x86_64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9601200" y="3502151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ARM, MIPS</a:t>
            </a:r>
            <a:endParaRPr/>
          </a:p>
        </p:txBody>
      </p:sp>
      <p:sp>
        <p:nvSpPr>
          <p:cNvPr id="168" name="Google Shape;168;p4"/>
          <p:cNvSpPr txBox="1"/>
          <p:nvPr/>
        </p:nvSpPr>
        <p:spPr>
          <a:xfrm>
            <a:off x="6400800" y="384048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Build Tools: Yocto, Buildroot, OpenWrt</a:t>
            </a:r>
            <a:endParaRPr/>
          </a:p>
        </p:txBody>
      </p:sp>
      <p:sp>
        <p:nvSpPr>
          <p:cNvPr id="169" name="Google Shape;169;p4"/>
          <p:cNvSpPr txBox="1"/>
          <p:nvPr/>
        </p:nvSpPr>
        <p:spPr>
          <a:xfrm>
            <a:off x="6400800" y="4297680"/>
            <a:ext cx="5303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</a:t>
            </a:r>
            <a: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Yocto Project — professional, powerful (Intel, Qualcomm)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</a:t>
            </a:r>
            <a: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Buildroot — lightweight, dễ dùng (small projects)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</a:t>
            </a:r>
            <a: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OpenWrt — chuyên biệt cho router/networking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2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IV. ỨNG DỤNG EMBEDDED LINUX</a:t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365760" y="1097280"/>
            <a:ext cx="2651760" cy="256032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00D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502920" y="123444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📷 Camera &amp; Video</a:t>
            </a:r>
            <a:endParaRPr/>
          </a:p>
        </p:txBody>
      </p:sp>
      <p:sp>
        <p:nvSpPr>
          <p:cNvPr id="177" name="Google Shape;177;p5"/>
          <p:cNvSpPr txBox="1"/>
          <p:nvPr/>
        </p:nvSpPr>
        <p:spPr>
          <a:xfrm>
            <a:off x="502920" y="1828800"/>
            <a:ext cx="23774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CCTV, face recognition, video streaming real-time</a:t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3291840" y="1097280"/>
            <a:ext cx="2651760" cy="256032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 txBox="1"/>
          <p:nvPr/>
        </p:nvSpPr>
        <p:spPr>
          <a:xfrm>
            <a:off x="3429000" y="123444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🤖 Edge AI</a:t>
            </a:r>
            <a:endParaRPr/>
          </a:p>
        </p:txBody>
      </p:sp>
      <p:sp>
        <p:nvSpPr>
          <p:cNvPr id="180" name="Google Shape;180;p5"/>
          <p:cNvSpPr txBox="1"/>
          <p:nvPr/>
        </p:nvSpPr>
        <p:spPr>
          <a:xfrm>
            <a:off x="3429000" y="1828800"/>
            <a:ext cx="23774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model chạy trên device, giảm latency, bảo mật tốt</a:t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6217920" y="1097280"/>
            <a:ext cx="2651760" cy="256032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FF8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6355080" y="123444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8C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📡 Router &amp; Networking</a:t>
            </a:r>
            <a:endParaRPr/>
          </a:p>
        </p:txBody>
      </p:sp>
      <p:sp>
        <p:nvSpPr>
          <p:cNvPr id="183" name="Google Shape;183;p5"/>
          <p:cNvSpPr txBox="1"/>
          <p:nvPr/>
        </p:nvSpPr>
        <p:spPr>
          <a:xfrm>
            <a:off x="6355080" y="1828800"/>
            <a:ext cx="23774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WiFi, 5G gateway, network security appliance</a:t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9144000" y="1097280"/>
            <a:ext cx="2651760" cy="256032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 txBox="1"/>
          <p:nvPr/>
        </p:nvSpPr>
        <p:spPr>
          <a:xfrm>
            <a:off x="9281160" y="123444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D7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🚗 Ô Tô</a:t>
            </a:r>
            <a:endParaRPr/>
          </a:p>
        </p:txBody>
      </p:sp>
      <p:sp>
        <p:nvSpPr>
          <p:cNvPr id="186" name="Google Shape;186;p5"/>
          <p:cNvSpPr txBox="1"/>
          <p:nvPr/>
        </p:nvSpPr>
        <p:spPr>
          <a:xfrm>
            <a:off x="9281160" y="1828800"/>
            <a:ext cx="23774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Infotainment, ADAS, autonomus driving, ECU</a:t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365760" y="3840480"/>
            <a:ext cx="2651760" cy="256032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00D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 txBox="1"/>
          <p:nvPr/>
        </p:nvSpPr>
        <p:spPr>
          <a:xfrm>
            <a:off x="502920" y="397764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✈️ Máy Bay &amp; Drone</a:t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>
            <a:off x="502920" y="4572000"/>
            <a:ext cx="23774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Flight control, navigation, video processing</a:t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3291840" y="3840480"/>
            <a:ext cx="2651760" cy="256032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 txBox="1"/>
          <p:nvPr/>
        </p:nvSpPr>
        <p:spPr>
          <a:xfrm>
            <a:off x="3429000" y="397764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⚕️ Y Tế</a:t>
            </a:r>
            <a:endParaRPr/>
          </a:p>
        </p:txBody>
      </p:sp>
      <p:sp>
        <p:nvSpPr>
          <p:cNvPr id="192" name="Google Shape;192;p5"/>
          <p:cNvSpPr txBox="1"/>
          <p:nvPr/>
        </p:nvSpPr>
        <p:spPr>
          <a:xfrm>
            <a:off x="3429000" y="4572000"/>
            <a:ext cx="23774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Medical imaging, ECG monitoring, portable devices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6217920" y="3840480"/>
            <a:ext cx="2651760" cy="256032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FF8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6355080" y="397764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8C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🏭 Công Nghiệp 4.0</a:t>
            </a:r>
            <a:endParaRPr/>
          </a:p>
        </p:txBody>
      </p:sp>
      <p:sp>
        <p:nvSpPr>
          <p:cNvPr id="195" name="Google Shape;195;p5"/>
          <p:cNvSpPr txBox="1"/>
          <p:nvPr/>
        </p:nvSpPr>
        <p:spPr>
          <a:xfrm>
            <a:off x="6355080" y="4572000"/>
            <a:ext cx="23774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Robot, smart warehouse, IoT sensors</a:t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9144000" y="3840480"/>
            <a:ext cx="2651760" cy="256032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 txBox="1"/>
          <p:nvPr/>
        </p:nvSpPr>
        <p:spPr>
          <a:xfrm>
            <a:off x="9281160" y="397764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D7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🛰️ Vệ Tinh</a:t>
            </a:r>
            <a:endParaRPr/>
          </a:p>
        </p:txBody>
      </p:sp>
      <p:sp>
        <p:nvSpPr>
          <p:cNvPr id="198" name="Google Shape;198;p5"/>
          <p:cNvSpPr txBox="1"/>
          <p:nvPr/>
        </p:nvSpPr>
        <p:spPr>
          <a:xfrm>
            <a:off x="9281160" y="4572000"/>
            <a:ext cx="23774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Satellite control, communication systems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2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V. CÔNG VIỆC EMBEDDED LINUX ENGINEER</a:t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457200" y="1097280"/>
            <a:ext cx="3474720" cy="228600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00D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594360" y="12344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 Programming</a:t>
            </a:r>
            <a:endParaRPr/>
          </a:p>
        </p:txBody>
      </p:sp>
      <p:sp>
        <p:nvSpPr>
          <p:cNvPr id="206" name="Google Shape;206;p6"/>
          <p:cNvSpPr txBox="1"/>
          <p:nvPr/>
        </p:nvSpPr>
        <p:spPr>
          <a:xfrm>
            <a:off x="594360" y="1737360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Driver, kernel, memory — C/Assembly</a:t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4297680" y="1097280"/>
            <a:ext cx="3474720" cy="228600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4434840" y="12344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Build System</a:t>
            </a:r>
            <a:endParaRPr/>
          </a:p>
        </p:txBody>
      </p:sp>
      <p:sp>
        <p:nvSpPr>
          <p:cNvPr id="209" name="Google Shape;209;p6"/>
          <p:cNvSpPr txBox="1"/>
          <p:nvPr/>
        </p:nvSpPr>
        <p:spPr>
          <a:xfrm>
            <a:off x="4434840" y="1737360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Yocto, Buildroot — custom Linux</a:t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8138160" y="1097280"/>
            <a:ext cx="3474720" cy="228600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FF8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 txBox="1"/>
          <p:nvPr/>
        </p:nvSpPr>
        <p:spPr>
          <a:xfrm>
            <a:off x="8275320" y="12344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8C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 Development</a:t>
            </a:r>
            <a:endParaRPr/>
          </a:p>
        </p:txBody>
      </p:sp>
      <p:sp>
        <p:nvSpPr>
          <p:cNvPr id="212" name="Google Shape;212;p6"/>
          <p:cNvSpPr txBox="1"/>
          <p:nvPr/>
        </p:nvSpPr>
        <p:spPr>
          <a:xfrm>
            <a:off x="8275320" y="1737360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GPIO, UART, SPI — C/C++/Python</a:t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457200" y="3657600"/>
            <a:ext cx="3474720" cy="228600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 txBox="1"/>
          <p:nvPr/>
        </p:nvSpPr>
        <p:spPr>
          <a:xfrm>
            <a:off x="594360" y="37947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D7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Device Drivers</a:t>
            </a:r>
            <a:endParaRPr/>
          </a:p>
        </p:txBody>
      </p:sp>
      <p:sp>
        <p:nvSpPr>
          <p:cNvPr id="215" name="Google Shape;215;p6"/>
          <p:cNvSpPr txBox="1"/>
          <p:nvPr/>
        </p:nvSpPr>
        <p:spPr>
          <a:xfrm>
            <a:off x="594360" y="4297680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Sensor drivers, HAL, I2C/SPI/CAN</a:t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4297680" y="3657600"/>
            <a:ext cx="3474720" cy="228600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FF69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 txBox="1"/>
          <p:nvPr/>
        </p:nvSpPr>
        <p:spPr>
          <a:xfrm>
            <a:off x="4434840" y="37947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69B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Bootloader</a:t>
            </a:r>
            <a:endParaRPr/>
          </a:p>
        </p:txBody>
      </p:sp>
      <p:sp>
        <p:nvSpPr>
          <p:cNvPr id="218" name="Google Shape;218;p6"/>
          <p:cNvSpPr txBox="1"/>
          <p:nvPr/>
        </p:nvSpPr>
        <p:spPr>
          <a:xfrm>
            <a:off x="4434840" y="4297680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U-Boot, GRUB, OTA update</a:t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8138160" y="3657600"/>
            <a:ext cx="3474720" cy="228600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 txBox="1"/>
          <p:nvPr/>
        </p:nvSpPr>
        <p:spPr>
          <a:xfrm>
            <a:off x="8275320" y="37947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Performance</a:t>
            </a:r>
            <a:endParaRPr/>
          </a:p>
        </p:txBody>
      </p:sp>
      <p:sp>
        <p:nvSpPr>
          <p:cNvPr id="221" name="Google Shape;221;p6"/>
          <p:cNvSpPr txBox="1"/>
          <p:nvPr/>
        </p:nvSpPr>
        <p:spPr>
          <a:xfrm>
            <a:off x="8275320" y="4297680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Boot time, memory, power optimization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2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VI. SoC, SOM, MCU LÀ GÌ?</a:t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365760" y="1097280"/>
            <a:ext cx="3474720" cy="530352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00D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 txBox="1"/>
          <p:nvPr/>
        </p:nvSpPr>
        <p:spPr>
          <a:xfrm>
            <a:off x="502920" y="123444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SoC</a:t>
            </a:r>
            <a:br>
              <a:rPr b="1" i="0" lang="en-US" sz="15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5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System-on-Chip</a:t>
            </a:r>
            <a:endParaRPr/>
          </a:p>
        </p:txBody>
      </p:sp>
      <p:sp>
        <p:nvSpPr>
          <p:cNvPr id="229" name="Google Shape;229;p7"/>
          <p:cNvSpPr txBox="1"/>
          <p:nvPr/>
        </p:nvSpPr>
        <p:spPr>
          <a:xfrm>
            <a:off x="502920" y="2194560"/>
            <a:ext cx="320040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Tất cả components trong 1 chip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CPU, GPU, RAM, storage, I/O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Nhỏ gọn, tiêu thụ điện thấp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Ví dụ: Snapdragon, Apple A17, i.MX8</a:t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4206240" y="1097280"/>
            <a:ext cx="3474720" cy="530352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 txBox="1"/>
          <p:nvPr/>
        </p:nvSpPr>
        <p:spPr>
          <a:xfrm>
            <a:off x="4343400" y="123444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SOM</a:t>
            </a:r>
            <a:br>
              <a:rPr b="1" i="0" lang="en-US" sz="15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5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System-on-Module</a:t>
            </a:r>
            <a:endParaRPr/>
          </a:p>
        </p:txBody>
      </p:sp>
      <p:sp>
        <p:nvSpPr>
          <p:cNvPr id="232" name="Google Shape;232;p7"/>
          <p:cNvSpPr txBox="1"/>
          <p:nvPr/>
        </p:nvSpPr>
        <p:spPr>
          <a:xfrm>
            <a:off x="4343400" y="2194560"/>
            <a:ext cx="320040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Pre-assembled module nhỏ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SoC + memory + power mgmt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Cắm vào carrier board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Ví dụ: Toradex, Compute Module</a:t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8046720" y="1097280"/>
            <a:ext cx="3474720" cy="530352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FF8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 txBox="1"/>
          <p:nvPr/>
        </p:nvSpPr>
        <p:spPr>
          <a:xfrm>
            <a:off x="8183880" y="123444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8C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MCU</a:t>
            </a:r>
            <a:br>
              <a:rPr b="1" i="0" lang="en-US" sz="1500" u="none" cap="none" strike="noStrike">
                <a:solidFill>
                  <a:srgbClr val="FF8C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500" u="none" cap="none" strike="noStrike">
                <a:solidFill>
                  <a:srgbClr val="FF8C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Microcontroller</a:t>
            </a:r>
            <a:endParaRPr/>
          </a:p>
        </p:txBody>
      </p:sp>
      <p:sp>
        <p:nvSpPr>
          <p:cNvPr id="235" name="Google Shape;235;p7"/>
          <p:cNvSpPr txBox="1"/>
          <p:nvPr/>
        </p:nvSpPr>
        <p:spPr>
          <a:xfrm>
            <a:off x="8183880" y="2194560"/>
            <a:ext cx="320040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Chip nhỏ, low-power, real-time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Cortex-M, SRAM, Flash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Điều khiển motor, sensor, PWM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Ví dụ: STM32, Cortex-M4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2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VII. HETEROGENEOUS: A-CORE + MCU</a:t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457200" y="1005840"/>
            <a:ext cx="5943600" cy="5303520"/>
          </a:xfrm>
          <a:prstGeom prst="roundRect">
            <a:avLst>
              <a:gd fmla="val 16667" name="adj"/>
            </a:avLst>
          </a:prstGeom>
          <a:solidFill>
            <a:srgbClr val="2A2A3E"/>
          </a:solidFill>
          <a:ln cap="flat" cmpd="sng" w="25400">
            <a:solidFill>
              <a:srgbClr val="00D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731520" y="1280160"/>
            <a:ext cx="2560320" cy="2286000"/>
          </a:xfrm>
          <a:prstGeom prst="roundRect">
            <a:avLst>
              <a:gd fmla="val 16667" name="adj"/>
            </a:avLst>
          </a:prstGeom>
          <a:solidFill>
            <a:srgbClr val="005A00"/>
          </a:solidFill>
          <a:ln cap="flat" cmpd="sng" w="254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 txBox="1"/>
          <p:nvPr/>
        </p:nvSpPr>
        <p:spPr>
          <a:xfrm>
            <a:off x="822960" y="141732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ARM Cortex-A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(Linux Kernel)</a:t>
            </a:r>
            <a:endParaRPr/>
          </a:p>
        </p:txBody>
      </p:sp>
      <p:sp>
        <p:nvSpPr>
          <p:cNvPr id="244" name="Google Shape;244;p8"/>
          <p:cNvSpPr txBox="1"/>
          <p:nvPr/>
        </p:nvSpPr>
        <p:spPr>
          <a:xfrm>
            <a:off x="822960" y="2194560"/>
            <a:ext cx="2377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</a:t>
            </a: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 performance</a:t>
            </a:r>
            <a:b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Multi-core</a:t>
            </a:r>
            <a:b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General OS</a:t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3474720" y="1280160"/>
            <a:ext cx="2560320" cy="2286000"/>
          </a:xfrm>
          <a:prstGeom prst="roundRect">
            <a:avLst>
              <a:gd fmla="val 16667" name="adj"/>
            </a:avLst>
          </a:prstGeom>
          <a:solidFill>
            <a:srgbClr val="5A005A"/>
          </a:solidFill>
          <a:ln cap="flat" cmpd="sng" w="25400">
            <a:solidFill>
              <a:srgbClr val="FF69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 txBox="1"/>
          <p:nvPr/>
        </p:nvSpPr>
        <p:spPr>
          <a:xfrm>
            <a:off x="3566160" y="141732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ARM Cortex-M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(RTOS/Bare-metal)</a:t>
            </a:r>
            <a:endParaRPr/>
          </a:p>
        </p:txBody>
      </p:sp>
      <p:sp>
        <p:nvSpPr>
          <p:cNvPr id="247" name="Google Shape;247;p8"/>
          <p:cNvSpPr txBox="1"/>
          <p:nvPr/>
        </p:nvSpPr>
        <p:spPr>
          <a:xfrm>
            <a:off x="3566160" y="2194560"/>
            <a:ext cx="2377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69B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</a:t>
            </a: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Real-time</a:t>
            </a:r>
            <a:b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Deterministic</a:t>
            </a:r>
            <a:b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Low-power</a:t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731520" y="3657600"/>
            <a:ext cx="5303520" cy="2560320"/>
          </a:xfrm>
          <a:prstGeom prst="roundRect">
            <a:avLst>
              <a:gd fmla="val 16667" name="adj"/>
            </a:avLst>
          </a:prstGeom>
          <a:solidFill>
            <a:srgbClr val="1A3A1A"/>
          </a:solidFill>
          <a:ln cap="flat" cmpd="sng" w="254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868680" y="3794760"/>
            <a:ext cx="50292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D7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Shared Resources</a:t>
            </a:r>
            <a:br>
              <a:rPr b="1" i="0" lang="en-US" sz="1300" u="none" cap="none" strike="noStrike">
                <a:solidFill>
                  <a:srgbClr val="FFD7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b="1" i="0" lang="en-US" sz="1300" u="none" cap="none" strike="noStrike">
                <a:solidFill>
                  <a:srgbClr val="FFD7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300" u="none" cap="none" strike="noStrike">
                <a:solidFill>
                  <a:srgbClr val="FFD7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DDR3/4 Memory | Flash Storage | Ethernet, USB, CAN, I2C, SPI, GPIO | Power Management</a:t>
            </a:r>
            <a:endParaRPr/>
          </a:p>
        </p:txBody>
      </p:sp>
      <p:sp>
        <p:nvSpPr>
          <p:cNvPr id="250" name="Google Shape;250;p8"/>
          <p:cNvSpPr txBox="1"/>
          <p:nvPr/>
        </p:nvSpPr>
        <p:spPr>
          <a:xfrm>
            <a:off x="6675120" y="100584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Ưu Điểm:</a:t>
            </a:r>
            <a:endParaRPr/>
          </a:p>
        </p:txBody>
      </p:sp>
      <p:sp>
        <p:nvSpPr>
          <p:cNvPr id="251" name="Google Shape;251;p8"/>
          <p:cNvSpPr txBox="1"/>
          <p:nvPr/>
        </p:nvSpPr>
        <p:spPr>
          <a:xfrm>
            <a:off x="6675120" y="1554480"/>
            <a:ext cx="502920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Linux: complex tasks, UI, networking</a:t>
            </a:r>
            <a:b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MCU: real-time control, deterministic</a:t>
            </a:r>
            <a:b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Safety: MCU runs when Linux crash</a:t>
            </a:r>
            <a:b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Cost: 1 chip instead of 2</a:t>
            </a:r>
            <a:b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Power: turn off A-core → MCU 1-10mW</a:t>
            </a:r>
            <a:b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IPC: shared memory, low latency</a:t>
            </a:r>
            <a:endParaRPr/>
          </a:p>
        </p:txBody>
      </p:sp>
      <p:sp>
        <p:nvSpPr>
          <p:cNvPr id="252" name="Google Shape;252;p8"/>
          <p:cNvSpPr txBox="1"/>
          <p:nvPr/>
        </p:nvSpPr>
        <p:spPr>
          <a:xfrm>
            <a:off x="6675120" y="5760720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8C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Examples: NXP i.MX8M (automotive) | TI AM335x (industrial)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2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VIII. TRIPLE-CORE: A-CORE + MCU + NPU (AI)</a:t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365760" y="914400"/>
            <a:ext cx="11430000" cy="5303520"/>
          </a:xfrm>
          <a:prstGeom prst="roundRect">
            <a:avLst>
              <a:gd fmla="val 16667" name="adj"/>
            </a:avLst>
          </a:prstGeom>
          <a:solidFill>
            <a:srgbClr val="2A2A3E"/>
          </a:solidFill>
          <a:ln cap="flat" cmpd="sng" w="25400">
            <a:solidFill>
              <a:srgbClr val="00D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731520" y="1188720"/>
            <a:ext cx="2560320" cy="457200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868680" y="132588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A-Cores</a:t>
            </a:r>
            <a:br>
              <a:rPr b="1" i="0" lang="en-US" sz="14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4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(Linux)</a:t>
            </a:r>
            <a:endParaRPr/>
          </a:p>
        </p:txBody>
      </p:sp>
      <p:sp>
        <p:nvSpPr>
          <p:cNvPr id="261" name="Google Shape;261;p9"/>
          <p:cNvSpPr txBox="1"/>
          <p:nvPr/>
        </p:nvSpPr>
        <p:spPr>
          <a:xfrm>
            <a:off x="868680" y="2103120"/>
            <a:ext cx="228600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1-4 GHz</a:t>
            </a:r>
            <a:b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multi-core</a:t>
            </a:r>
            <a:b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hi-perf</a:t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3657600" y="1188720"/>
            <a:ext cx="2560320" cy="457200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FF69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 txBox="1"/>
          <p:nvPr/>
        </p:nvSpPr>
        <p:spPr>
          <a:xfrm>
            <a:off x="3794760" y="132588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69B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MCU/RTOS</a:t>
            </a:r>
            <a:br>
              <a:rPr b="1" i="0" lang="en-US" sz="1400" u="none" cap="none" strike="noStrike">
                <a:solidFill>
                  <a:srgbClr val="FF69B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400" u="none" cap="none" strike="noStrike">
                <a:solidFill>
                  <a:srgbClr val="FF69B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Core</a:t>
            </a:r>
            <a:endParaRPr/>
          </a:p>
        </p:txBody>
      </p:sp>
      <p:sp>
        <p:nvSpPr>
          <p:cNvPr id="264" name="Google Shape;264;p9"/>
          <p:cNvSpPr txBox="1"/>
          <p:nvPr/>
        </p:nvSpPr>
        <p:spPr>
          <a:xfrm>
            <a:off x="3794760" y="2103120"/>
            <a:ext cx="228600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100-200 MHz</a:t>
            </a:r>
            <a:b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real-time</a:t>
            </a:r>
            <a:b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lederministic</a:t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6583680" y="1188720"/>
            <a:ext cx="2560320" cy="457200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 txBox="1"/>
          <p:nvPr/>
        </p:nvSpPr>
        <p:spPr>
          <a:xfrm>
            <a:off x="6720840" y="132588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D7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NPU</a:t>
            </a:r>
            <a:br>
              <a:rPr b="1" i="0" lang="en-US" sz="1400" u="none" cap="none" strike="noStrike">
                <a:solidFill>
                  <a:srgbClr val="FFD7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400" u="none" cap="none" strike="noStrike">
                <a:solidFill>
                  <a:srgbClr val="FFD7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(AI Accel)</a:t>
            </a:r>
            <a:endParaRPr/>
          </a:p>
        </p:txBody>
      </p:sp>
      <p:sp>
        <p:nvSpPr>
          <p:cNvPr id="267" name="Google Shape;267;p9"/>
          <p:cNvSpPr txBox="1"/>
          <p:nvPr/>
        </p:nvSpPr>
        <p:spPr>
          <a:xfrm>
            <a:off x="6720840" y="2103120"/>
            <a:ext cx="2286000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1-100</a:t>
            </a:r>
            <a:b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TFLOPS</a:t>
            </a:r>
            <a:b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low-power</a:t>
            </a:r>
            <a:endParaRPr/>
          </a:p>
        </p:txBody>
      </p:sp>
      <p:sp>
        <p:nvSpPr>
          <p:cNvPr id="268" name="Google Shape;268;p9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 Cases: Autonomous vehicles (perception+control) | Edge AI camera (inference+control) | Industry 4.0 | Medical AI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2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"/>
          <p:cNvSpPr/>
          <p:nvPr/>
        </p:nvSpPr>
        <p:spPr>
          <a:xfrm>
            <a:off x="5303520" y="2743200"/>
            <a:ext cx="1371600" cy="1280160"/>
          </a:xfrm>
          <a:prstGeom prst="roundRect">
            <a:avLst>
              <a:gd fmla="val 16667" name="adj"/>
            </a:avLst>
          </a:prstGeom>
          <a:solidFill>
            <a:srgbClr val="3A2A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IX. ECU ARCHITECTURE: LINUX + MCU</a:t>
            </a:r>
            <a:endParaRPr/>
          </a:p>
        </p:txBody>
      </p:sp>
      <p:sp>
        <p:nvSpPr>
          <p:cNvPr id="275" name="Google Shape;275;p10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Functional Safety: Tách biệt Linux (infotainment) + MCU (safety control) qua SPI/Ethernet</a:t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365760" y="1371600"/>
            <a:ext cx="4114800" cy="502920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00D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 txBox="1"/>
          <p:nvPr/>
        </p:nvSpPr>
        <p:spPr>
          <a:xfrm>
            <a:off x="502920" y="150876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Linux SoM (Infotainment)</a:t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548640" y="1965960"/>
            <a:ext cx="3749039" cy="685800"/>
          </a:xfrm>
          <a:prstGeom prst="roundRect">
            <a:avLst>
              <a:gd fmla="val 16667" name="adj"/>
            </a:avLst>
          </a:prstGeom>
          <a:solidFill>
            <a:srgbClr val="005A00"/>
          </a:solidFill>
          <a:ln cap="flat" cmpd="sng" w="254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 txBox="1"/>
          <p:nvPr/>
        </p:nvSpPr>
        <p:spPr>
          <a:xfrm>
            <a:off x="685800" y="2039112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Cortex-A</a:t>
            </a:r>
            <a:b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multi-core</a:t>
            </a:r>
            <a:endParaRPr/>
          </a:p>
        </p:txBody>
      </p:sp>
      <p:sp>
        <p:nvSpPr>
          <p:cNvPr id="280" name="Google Shape;280;p10"/>
          <p:cNvSpPr txBox="1"/>
          <p:nvPr/>
        </p:nvSpPr>
        <p:spPr>
          <a:xfrm>
            <a:off x="2468880" y="21031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1-4 GHz</a:t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548640" y="2743200"/>
            <a:ext cx="3749039" cy="685800"/>
          </a:xfrm>
          <a:prstGeom prst="roundRect">
            <a:avLst>
              <a:gd fmla="val 16667" name="adj"/>
            </a:avLst>
          </a:prstGeom>
          <a:solidFill>
            <a:srgbClr val="005A00"/>
          </a:solidFill>
          <a:ln cap="flat" cmpd="sng" w="254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 txBox="1"/>
          <p:nvPr/>
        </p:nvSpPr>
        <p:spPr>
          <a:xfrm>
            <a:off x="685800" y="2816352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DDR4</a:t>
            </a:r>
            <a:b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1-4GB</a:t>
            </a:r>
            <a:endParaRPr/>
          </a:p>
        </p:txBody>
      </p:sp>
      <p:sp>
        <p:nvSpPr>
          <p:cNvPr id="283" name="Google Shape;283;p10"/>
          <p:cNvSpPr txBox="1"/>
          <p:nvPr/>
        </p:nvSpPr>
        <p:spPr>
          <a:xfrm>
            <a:off x="2468880" y="28803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shared mem</a:t>
            </a: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548640" y="3520440"/>
            <a:ext cx="3749039" cy="685800"/>
          </a:xfrm>
          <a:prstGeom prst="roundRect">
            <a:avLst>
              <a:gd fmla="val 16667" name="adj"/>
            </a:avLst>
          </a:prstGeom>
          <a:solidFill>
            <a:srgbClr val="005A00"/>
          </a:solidFill>
          <a:ln cap="flat" cmpd="sng" w="254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 txBox="1"/>
          <p:nvPr/>
        </p:nvSpPr>
        <p:spPr>
          <a:xfrm>
            <a:off x="685800" y="3593592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eMMC 32GB+</a:t>
            </a:r>
            <a:endParaRPr/>
          </a:p>
        </p:txBody>
      </p:sp>
      <p:sp>
        <p:nvSpPr>
          <p:cNvPr id="286" name="Google Shape;286;p10"/>
          <p:cNvSpPr txBox="1"/>
          <p:nvPr/>
        </p:nvSpPr>
        <p:spPr>
          <a:xfrm>
            <a:off x="2468880" y="3657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rootfs</a:t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548640" y="4297680"/>
            <a:ext cx="3749039" cy="685800"/>
          </a:xfrm>
          <a:prstGeom prst="roundRect">
            <a:avLst>
              <a:gd fmla="val 16667" name="adj"/>
            </a:avLst>
          </a:prstGeom>
          <a:solidFill>
            <a:srgbClr val="005A00"/>
          </a:solidFill>
          <a:ln cap="flat" cmpd="sng" w="254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 txBox="1"/>
          <p:nvPr/>
        </p:nvSpPr>
        <p:spPr>
          <a:xfrm>
            <a:off x="685800" y="4370832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Ethernet</a:t>
            </a:r>
            <a:endParaRPr/>
          </a:p>
        </p:txBody>
      </p:sp>
      <p:sp>
        <p:nvSpPr>
          <p:cNvPr id="289" name="Google Shape;289;p10"/>
          <p:cNvSpPr txBox="1"/>
          <p:nvPr/>
        </p:nvSpPr>
        <p:spPr>
          <a:xfrm>
            <a:off x="2468880" y="44348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high-speed</a:t>
            </a:r>
            <a:endParaRPr/>
          </a:p>
        </p:txBody>
      </p:sp>
      <p:sp>
        <p:nvSpPr>
          <p:cNvPr id="290" name="Google Shape;290;p10"/>
          <p:cNvSpPr txBox="1"/>
          <p:nvPr/>
        </p:nvSpPr>
        <p:spPr>
          <a:xfrm>
            <a:off x="5120640" y="2872292"/>
            <a:ext cx="17373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D7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SPI</a:t>
            </a:r>
            <a:br>
              <a:rPr b="1" i="0" lang="en-US" sz="1400" u="none" cap="none" strike="noStrike">
                <a:solidFill>
                  <a:srgbClr val="FFD7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400" u="none" cap="none" strike="noStrike">
                <a:solidFill>
                  <a:srgbClr val="FFD7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50Mbps</a:t>
            </a:r>
            <a:br>
              <a:rPr b="1" i="0" lang="en-US" sz="1400" u="none" cap="none" strike="noStrike">
                <a:solidFill>
                  <a:srgbClr val="FFD7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400" u="none" cap="none" strike="noStrike">
                <a:solidFill>
                  <a:srgbClr val="FFD7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</a:t>
            </a:r>
            <a:br>
              <a:rPr b="1" i="0" lang="en-US" sz="1400" u="none" cap="none" strike="noStrike">
                <a:solidFill>
                  <a:srgbClr val="FFD7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400" u="none" cap="none" strike="noStrike">
                <a:solidFill>
                  <a:srgbClr val="FFD7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Ethernet</a:t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7680960" y="1371600"/>
            <a:ext cx="4114800" cy="502920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FF69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 txBox="1"/>
          <p:nvPr/>
        </p:nvSpPr>
        <p:spPr>
          <a:xfrm>
            <a:off x="7818120" y="150876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69B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Safety MCU (Control)</a:t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7863840" y="1965960"/>
            <a:ext cx="3749039" cy="685800"/>
          </a:xfrm>
          <a:prstGeom prst="roundRect">
            <a:avLst>
              <a:gd fmla="val 16667" name="adj"/>
            </a:avLst>
          </a:prstGeom>
          <a:solidFill>
            <a:srgbClr val="5A005A"/>
          </a:solidFill>
          <a:ln cap="flat" cmpd="sng" w="254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 txBox="1"/>
          <p:nvPr/>
        </p:nvSpPr>
        <p:spPr>
          <a:xfrm>
            <a:off x="8001000" y="2039112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Cortex-M4/M7</a:t>
            </a:r>
            <a:endParaRPr/>
          </a:p>
        </p:txBody>
      </p:sp>
      <p:sp>
        <p:nvSpPr>
          <p:cNvPr id="295" name="Google Shape;295;p10"/>
          <p:cNvSpPr txBox="1"/>
          <p:nvPr/>
        </p:nvSpPr>
        <p:spPr>
          <a:xfrm>
            <a:off x="9784080" y="21031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100-200 MHz</a:t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7863840" y="2743200"/>
            <a:ext cx="3749039" cy="685800"/>
          </a:xfrm>
          <a:prstGeom prst="roundRect">
            <a:avLst>
              <a:gd fmla="val 16667" name="adj"/>
            </a:avLst>
          </a:prstGeom>
          <a:solidFill>
            <a:srgbClr val="5A005A"/>
          </a:solidFill>
          <a:ln cap="flat" cmpd="sng" w="254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 txBox="1"/>
          <p:nvPr/>
        </p:nvSpPr>
        <p:spPr>
          <a:xfrm>
            <a:off x="8001000" y="2816352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SRAM 256KB</a:t>
            </a:r>
            <a:endParaRPr/>
          </a:p>
        </p:txBody>
      </p:sp>
      <p:sp>
        <p:nvSpPr>
          <p:cNvPr id="298" name="Google Shape;298;p10"/>
          <p:cNvSpPr txBox="1"/>
          <p:nvPr/>
        </p:nvSpPr>
        <p:spPr>
          <a:xfrm>
            <a:off x="9784080" y="28803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RTOS kernel</a:t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7863840" y="3520440"/>
            <a:ext cx="3749039" cy="685800"/>
          </a:xfrm>
          <a:prstGeom prst="roundRect">
            <a:avLst>
              <a:gd fmla="val 16667" name="adj"/>
            </a:avLst>
          </a:prstGeom>
          <a:solidFill>
            <a:srgbClr val="5A005A"/>
          </a:solidFill>
          <a:ln cap="flat" cmpd="sng" w="254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 txBox="1"/>
          <p:nvPr/>
        </p:nvSpPr>
        <p:spPr>
          <a:xfrm>
            <a:off x="8001000" y="3593592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Flash 512KB+</a:t>
            </a:r>
            <a:endParaRPr/>
          </a:p>
        </p:txBody>
      </p:sp>
      <p:sp>
        <p:nvSpPr>
          <p:cNvPr id="301" name="Google Shape;301;p10"/>
          <p:cNvSpPr txBox="1"/>
          <p:nvPr/>
        </p:nvSpPr>
        <p:spPr>
          <a:xfrm>
            <a:off x="9784080" y="3657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firmware</a:t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7863840" y="4297680"/>
            <a:ext cx="3749039" cy="685800"/>
          </a:xfrm>
          <a:prstGeom prst="roundRect">
            <a:avLst>
              <a:gd fmla="val 16667" name="adj"/>
            </a:avLst>
          </a:prstGeom>
          <a:solidFill>
            <a:srgbClr val="5A005A"/>
          </a:solidFill>
          <a:ln cap="flat" cmpd="sng" w="254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 txBox="1"/>
          <p:nvPr/>
        </p:nvSpPr>
        <p:spPr>
          <a:xfrm>
            <a:off x="8001000" y="4370832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CAN/LIN</a:t>
            </a:r>
            <a:endParaRPr/>
          </a:p>
        </p:txBody>
      </p:sp>
      <p:sp>
        <p:nvSpPr>
          <p:cNvPr id="304" name="Google Shape;304;p10"/>
          <p:cNvSpPr txBox="1"/>
          <p:nvPr/>
        </p:nvSpPr>
        <p:spPr>
          <a:xfrm>
            <a:off x="9784080" y="44348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vehicle bus</a:t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365760" y="6583680"/>
            <a:ext cx="11430000" cy="182880"/>
          </a:xfrm>
          <a:prstGeom prst="roundRect">
            <a:avLst>
              <a:gd fmla="val 16667" name="adj"/>
            </a:avLst>
          </a:prstGeom>
          <a:solidFill>
            <a:srgbClr val="1A3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6" name="Google Shape;306;p10"/>
          <p:cNvCxnSpPr/>
          <p:nvPr/>
        </p:nvCxnSpPr>
        <p:spPr>
          <a:xfrm>
            <a:off x="4480560" y="3429000"/>
            <a:ext cx="822900" cy="164700"/>
          </a:xfrm>
          <a:prstGeom prst="bentConnector3">
            <a:avLst>
              <a:gd fmla="val 50000" name="adj1"/>
            </a:avLst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07" name="Google Shape;307;p10"/>
          <p:cNvCxnSpPr/>
          <p:nvPr/>
        </p:nvCxnSpPr>
        <p:spPr>
          <a:xfrm>
            <a:off x="6675120" y="3493008"/>
            <a:ext cx="1005900" cy="164700"/>
          </a:xfrm>
          <a:prstGeom prst="bentConnector3">
            <a:avLst>
              <a:gd fmla="val 50000" name="adj1"/>
            </a:avLst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2F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X. LINUX BOOT PROCESS — TỔNG QUAN</a:t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274320" y="1188720"/>
            <a:ext cx="2057400" cy="484632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FF8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 txBox="1"/>
          <p:nvPr/>
        </p:nvSpPr>
        <p:spPr>
          <a:xfrm>
            <a:off x="365760" y="1371600"/>
            <a:ext cx="187451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8C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ROM</a:t>
            </a:r>
            <a:br>
              <a:rPr b="1" i="0" lang="en-US" sz="1500" u="none" cap="none" strike="noStrike">
                <a:solidFill>
                  <a:srgbClr val="FF8C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500" u="none" cap="none" strike="noStrike">
                <a:solidFill>
                  <a:srgbClr val="FF8C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Code</a:t>
            </a:r>
            <a:endParaRPr/>
          </a:p>
        </p:txBody>
      </p:sp>
      <p:sp>
        <p:nvSpPr>
          <p:cNvPr id="315" name="Google Shape;315;p11"/>
          <p:cNvSpPr txBox="1"/>
          <p:nvPr/>
        </p:nvSpPr>
        <p:spPr>
          <a:xfrm>
            <a:off x="365760" y="2377440"/>
            <a:ext cx="187451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Reset</a:t>
            </a:r>
            <a:br>
              <a:rPr b="0" i="0" lang="en-US" sz="14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4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Vector</a:t>
            </a:r>
            <a:endParaRPr/>
          </a:p>
        </p:txBody>
      </p:sp>
      <p:sp>
        <p:nvSpPr>
          <p:cNvPr id="316" name="Google Shape;316;p11"/>
          <p:cNvSpPr txBox="1"/>
          <p:nvPr/>
        </p:nvSpPr>
        <p:spPr>
          <a:xfrm>
            <a:off x="365760" y="4297680"/>
            <a:ext cx="187451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8C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~100ms</a:t>
            </a:r>
            <a:endParaRPr/>
          </a:p>
        </p:txBody>
      </p:sp>
      <p:sp>
        <p:nvSpPr>
          <p:cNvPr id="317" name="Google Shape;317;p11"/>
          <p:cNvSpPr txBox="1"/>
          <p:nvPr/>
        </p:nvSpPr>
        <p:spPr>
          <a:xfrm>
            <a:off x="365760" y="4937759"/>
            <a:ext cx="187451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Target: &amp;lt;2s</a:t>
            </a:r>
            <a:endParaRPr/>
          </a:p>
        </p:txBody>
      </p:sp>
      <p:sp>
        <p:nvSpPr>
          <p:cNvPr id="318" name="Google Shape;318;p11"/>
          <p:cNvSpPr txBox="1"/>
          <p:nvPr/>
        </p:nvSpPr>
        <p:spPr>
          <a:xfrm>
            <a:off x="2331720" y="3291840"/>
            <a:ext cx="274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2606039" y="1188720"/>
            <a:ext cx="2057400" cy="484632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00D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 txBox="1"/>
          <p:nvPr/>
        </p:nvSpPr>
        <p:spPr>
          <a:xfrm>
            <a:off x="2697479" y="1371600"/>
            <a:ext cx="187451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SPL</a:t>
            </a:r>
            <a:endParaRPr/>
          </a:p>
        </p:txBody>
      </p:sp>
      <p:sp>
        <p:nvSpPr>
          <p:cNvPr id="321" name="Google Shape;321;p11"/>
          <p:cNvSpPr txBox="1"/>
          <p:nvPr/>
        </p:nvSpPr>
        <p:spPr>
          <a:xfrm>
            <a:off x="2697479" y="2377440"/>
            <a:ext cx="187451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Init</a:t>
            </a:r>
            <a:br>
              <a:rPr b="0" i="0" lang="en-US" sz="14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4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DRAM</a:t>
            </a:r>
            <a:endParaRPr/>
          </a:p>
        </p:txBody>
      </p:sp>
      <p:sp>
        <p:nvSpPr>
          <p:cNvPr id="322" name="Google Shape;322;p11"/>
          <p:cNvSpPr txBox="1"/>
          <p:nvPr/>
        </p:nvSpPr>
        <p:spPr>
          <a:xfrm>
            <a:off x="2697479" y="4297680"/>
            <a:ext cx="187451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~100ms</a:t>
            </a:r>
            <a:endParaRPr/>
          </a:p>
        </p:txBody>
      </p:sp>
      <p:sp>
        <p:nvSpPr>
          <p:cNvPr id="323" name="Google Shape;323;p11"/>
          <p:cNvSpPr txBox="1"/>
          <p:nvPr/>
        </p:nvSpPr>
        <p:spPr>
          <a:xfrm>
            <a:off x="2697479" y="4937759"/>
            <a:ext cx="187451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Target: &amp;lt;2s</a:t>
            </a:r>
            <a:endParaRPr/>
          </a:p>
        </p:txBody>
      </p:sp>
      <p:sp>
        <p:nvSpPr>
          <p:cNvPr id="324" name="Google Shape;324;p11"/>
          <p:cNvSpPr txBox="1"/>
          <p:nvPr/>
        </p:nvSpPr>
        <p:spPr>
          <a:xfrm>
            <a:off x="4663439" y="3291840"/>
            <a:ext cx="274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4937759" y="1188720"/>
            <a:ext cx="2057400" cy="484632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 txBox="1"/>
          <p:nvPr/>
        </p:nvSpPr>
        <p:spPr>
          <a:xfrm>
            <a:off x="5029199" y="1371600"/>
            <a:ext cx="187451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U-Boot</a:t>
            </a:r>
            <a:br>
              <a:rPr b="1" i="0" lang="en-US" sz="15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5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Full</a:t>
            </a:r>
            <a:endParaRPr/>
          </a:p>
        </p:txBody>
      </p:sp>
      <p:sp>
        <p:nvSpPr>
          <p:cNvPr id="327" name="Google Shape;327;p11"/>
          <p:cNvSpPr txBox="1"/>
          <p:nvPr/>
        </p:nvSpPr>
        <p:spPr>
          <a:xfrm>
            <a:off x="5029199" y="2377440"/>
            <a:ext cx="187451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Load</a:t>
            </a:r>
            <a:br>
              <a:rPr b="0" i="0" lang="en-US" sz="14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4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Kernel</a:t>
            </a:r>
            <a:endParaRPr/>
          </a:p>
        </p:txBody>
      </p:sp>
      <p:sp>
        <p:nvSpPr>
          <p:cNvPr id="328" name="Google Shape;328;p11"/>
          <p:cNvSpPr txBox="1"/>
          <p:nvPr/>
        </p:nvSpPr>
        <p:spPr>
          <a:xfrm>
            <a:off x="5029199" y="4297680"/>
            <a:ext cx="187451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~500ms</a:t>
            </a:r>
            <a:endParaRPr/>
          </a:p>
        </p:txBody>
      </p:sp>
      <p:sp>
        <p:nvSpPr>
          <p:cNvPr id="329" name="Google Shape;329;p11"/>
          <p:cNvSpPr txBox="1"/>
          <p:nvPr/>
        </p:nvSpPr>
        <p:spPr>
          <a:xfrm>
            <a:off x="5029199" y="4937759"/>
            <a:ext cx="187451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Target: &amp;lt;2s</a:t>
            </a:r>
            <a:endParaRPr/>
          </a:p>
        </p:txBody>
      </p:sp>
      <p:sp>
        <p:nvSpPr>
          <p:cNvPr id="330" name="Google Shape;330;p11"/>
          <p:cNvSpPr txBox="1"/>
          <p:nvPr/>
        </p:nvSpPr>
        <p:spPr>
          <a:xfrm>
            <a:off x="6995159" y="3291840"/>
            <a:ext cx="274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7269479" y="1188720"/>
            <a:ext cx="2057400" cy="484632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 txBox="1"/>
          <p:nvPr/>
        </p:nvSpPr>
        <p:spPr>
          <a:xfrm>
            <a:off x="7360919" y="1371600"/>
            <a:ext cx="187451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D7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Kernel</a:t>
            </a:r>
            <a:endParaRPr/>
          </a:p>
        </p:txBody>
      </p:sp>
      <p:sp>
        <p:nvSpPr>
          <p:cNvPr id="333" name="Google Shape;333;p11"/>
          <p:cNvSpPr txBox="1"/>
          <p:nvPr/>
        </p:nvSpPr>
        <p:spPr>
          <a:xfrm>
            <a:off x="7360919" y="2377440"/>
            <a:ext cx="187451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Init</a:t>
            </a:r>
            <a:br>
              <a:rPr b="0" i="0" lang="en-US" sz="14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4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Drivers</a:t>
            </a:r>
            <a:endParaRPr/>
          </a:p>
        </p:txBody>
      </p:sp>
      <p:sp>
        <p:nvSpPr>
          <p:cNvPr id="334" name="Google Shape;334;p11"/>
          <p:cNvSpPr txBox="1"/>
          <p:nvPr/>
        </p:nvSpPr>
        <p:spPr>
          <a:xfrm>
            <a:off x="7360919" y="4297680"/>
            <a:ext cx="187451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D7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1-5s</a:t>
            </a:r>
            <a:endParaRPr/>
          </a:p>
        </p:txBody>
      </p:sp>
      <p:sp>
        <p:nvSpPr>
          <p:cNvPr id="335" name="Google Shape;335;p11"/>
          <p:cNvSpPr txBox="1"/>
          <p:nvPr/>
        </p:nvSpPr>
        <p:spPr>
          <a:xfrm>
            <a:off x="7360919" y="4937759"/>
            <a:ext cx="187451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Target: &amp;lt;2s</a:t>
            </a:r>
            <a:endParaRPr/>
          </a:p>
        </p:txBody>
      </p:sp>
      <p:sp>
        <p:nvSpPr>
          <p:cNvPr id="336" name="Google Shape;336;p11"/>
          <p:cNvSpPr txBox="1"/>
          <p:nvPr/>
        </p:nvSpPr>
        <p:spPr>
          <a:xfrm>
            <a:off x="9326879" y="3291840"/>
            <a:ext cx="274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9601200" y="1188720"/>
            <a:ext cx="2057400" cy="484632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FF69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 txBox="1"/>
          <p:nvPr/>
        </p:nvSpPr>
        <p:spPr>
          <a:xfrm>
            <a:off x="9692640" y="1371600"/>
            <a:ext cx="187451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69B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 Init</a:t>
            </a:r>
            <a:endParaRPr/>
          </a:p>
        </p:txBody>
      </p:sp>
      <p:sp>
        <p:nvSpPr>
          <p:cNvPr id="339" name="Google Shape;339;p11"/>
          <p:cNvSpPr txBox="1"/>
          <p:nvPr/>
        </p:nvSpPr>
        <p:spPr>
          <a:xfrm>
            <a:off x="9692640" y="2377440"/>
            <a:ext cx="187451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Services</a:t>
            </a:r>
            <a:br>
              <a:rPr b="0" i="0" lang="en-US" sz="14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4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Ready</a:t>
            </a:r>
            <a:endParaRPr/>
          </a:p>
        </p:txBody>
      </p:sp>
      <p:sp>
        <p:nvSpPr>
          <p:cNvPr id="340" name="Google Shape;340;p11"/>
          <p:cNvSpPr txBox="1"/>
          <p:nvPr/>
        </p:nvSpPr>
        <p:spPr>
          <a:xfrm>
            <a:off x="9692640" y="4297680"/>
            <a:ext cx="187451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69B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~100ms</a:t>
            </a:r>
            <a:endParaRPr/>
          </a:p>
        </p:txBody>
      </p:sp>
      <p:sp>
        <p:nvSpPr>
          <p:cNvPr id="341" name="Google Shape;341;p11"/>
          <p:cNvSpPr txBox="1"/>
          <p:nvPr/>
        </p:nvSpPr>
        <p:spPr>
          <a:xfrm>
            <a:off x="9692640" y="4937759"/>
            <a:ext cx="187451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Target: &amp;lt;2s</a:t>
            </a:r>
            <a:endParaRPr/>
          </a:p>
        </p:txBody>
      </p:sp>
      <p:sp>
        <p:nvSpPr>
          <p:cNvPr id="342" name="Google Shape;342;p11"/>
          <p:cNvSpPr txBox="1"/>
          <p:nvPr/>
        </p:nvSpPr>
        <p:spPr>
          <a:xfrm>
            <a:off x="731520" y="6217920"/>
            <a:ext cx="100584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Desktop: ~5-20s  |  Embedded: ~1-5s  |  Optimized IoT: ~1s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2F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XI. RESET VECTOR &amp; ROM CODE</a:t>
            </a:r>
            <a:endParaRPr/>
          </a:p>
        </p:txBody>
      </p:sp>
      <p:sp>
        <p:nvSpPr>
          <p:cNvPr id="348" name="Google Shape;348;p1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CPU always jumps to Reset Vector when powered on or reset:</a:t>
            </a:r>
            <a:endParaRPr/>
          </a:p>
        </p:txBody>
      </p:sp>
      <p:sp>
        <p:nvSpPr>
          <p:cNvPr id="349" name="Google Shape;349;p12"/>
          <p:cNvSpPr/>
          <p:nvPr/>
        </p:nvSpPr>
        <p:spPr>
          <a:xfrm>
            <a:off x="731520" y="1371600"/>
            <a:ext cx="10058400" cy="45720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00D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 txBox="1"/>
          <p:nvPr/>
        </p:nvSpPr>
        <p:spPr>
          <a:xfrm>
            <a:off x="868680" y="14173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ARM Cortex-A (32)</a:t>
            </a:r>
            <a:endParaRPr/>
          </a:p>
        </p:txBody>
      </p:sp>
      <p:sp>
        <p:nvSpPr>
          <p:cNvPr id="351" name="Google Shape;351;p12"/>
          <p:cNvSpPr txBox="1"/>
          <p:nvPr/>
        </p:nvSpPr>
        <p:spPr>
          <a:xfrm>
            <a:off x="4206240" y="141732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0x00000000 or 0xFFFF0000 (HIVECS)</a:t>
            </a:r>
            <a:endParaRPr/>
          </a:p>
        </p:txBody>
      </p:sp>
      <p:sp>
        <p:nvSpPr>
          <p:cNvPr id="352" name="Google Shape;352;p12"/>
          <p:cNvSpPr/>
          <p:nvPr/>
        </p:nvSpPr>
        <p:spPr>
          <a:xfrm>
            <a:off x="731520" y="1920240"/>
            <a:ext cx="10058400" cy="45720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00D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 txBox="1"/>
          <p:nvPr/>
        </p:nvSpPr>
        <p:spPr>
          <a:xfrm>
            <a:off x="868680" y="19659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ARM Cortex-A (64)</a:t>
            </a:r>
            <a:endParaRPr/>
          </a:p>
        </p:txBody>
      </p:sp>
      <p:sp>
        <p:nvSpPr>
          <p:cNvPr id="354" name="Google Shape;354;p12"/>
          <p:cNvSpPr txBox="1"/>
          <p:nvPr/>
        </p:nvSpPr>
        <p:spPr>
          <a:xfrm>
            <a:off x="4206240" y="196596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0x00000000 or RVBAR_ELx</a:t>
            </a:r>
            <a:endParaRPr/>
          </a:p>
        </p:txBody>
      </p:sp>
      <p:sp>
        <p:nvSpPr>
          <p:cNvPr id="355" name="Google Shape;355;p12"/>
          <p:cNvSpPr/>
          <p:nvPr/>
        </p:nvSpPr>
        <p:spPr>
          <a:xfrm>
            <a:off x="731520" y="2468880"/>
            <a:ext cx="10058400" cy="45720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 txBox="1"/>
          <p:nvPr/>
        </p:nvSpPr>
        <p:spPr>
          <a:xfrm>
            <a:off x="868680" y="25146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x86 (BIOS/UEFI)</a:t>
            </a:r>
            <a:endParaRPr/>
          </a:p>
        </p:txBody>
      </p:sp>
      <p:sp>
        <p:nvSpPr>
          <p:cNvPr id="357" name="Google Shape;357;p12"/>
          <p:cNvSpPr txBox="1"/>
          <p:nvPr/>
        </p:nvSpPr>
        <p:spPr>
          <a:xfrm>
            <a:off x="4206240" y="25146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0xFFFFFFF0 (16 bytes before ROM end)</a:t>
            </a:r>
            <a:endParaRPr/>
          </a:p>
        </p:txBody>
      </p:sp>
      <p:sp>
        <p:nvSpPr>
          <p:cNvPr id="358" name="Google Shape;358;p12"/>
          <p:cNvSpPr/>
          <p:nvPr/>
        </p:nvSpPr>
        <p:spPr>
          <a:xfrm>
            <a:off x="731520" y="3017520"/>
            <a:ext cx="10058400" cy="45720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 txBox="1"/>
          <p:nvPr/>
        </p:nvSpPr>
        <p:spPr>
          <a:xfrm>
            <a:off x="868680" y="3063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MIPS</a:t>
            </a:r>
            <a:endParaRPr/>
          </a:p>
        </p:txBody>
      </p:sp>
      <p:sp>
        <p:nvSpPr>
          <p:cNvPr id="360" name="Google Shape;360;p12"/>
          <p:cNvSpPr txBox="1"/>
          <p:nvPr/>
        </p:nvSpPr>
        <p:spPr>
          <a:xfrm>
            <a:off x="4206240" y="30632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0xBFC00000 (Uncached kseg1)</a:t>
            </a:r>
            <a:endParaRPr/>
          </a:p>
        </p:txBody>
      </p:sp>
      <p:sp>
        <p:nvSpPr>
          <p:cNvPr id="361" name="Google Shape;361;p12"/>
          <p:cNvSpPr/>
          <p:nvPr/>
        </p:nvSpPr>
        <p:spPr>
          <a:xfrm>
            <a:off x="731520" y="3566160"/>
            <a:ext cx="10058400" cy="45720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 txBox="1"/>
          <p:nvPr/>
        </p:nvSpPr>
        <p:spPr>
          <a:xfrm>
            <a:off x="868680" y="361188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RISC-V</a:t>
            </a:r>
            <a:endParaRPr/>
          </a:p>
        </p:txBody>
      </p:sp>
      <p:sp>
        <p:nvSpPr>
          <p:cNvPr id="363" name="Google Shape;363;p12"/>
          <p:cNvSpPr txBox="1"/>
          <p:nvPr/>
        </p:nvSpPr>
        <p:spPr>
          <a:xfrm>
            <a:off x="4206240" y="36118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0x80000000 (platform-defined)</a:t>
            </a:r>
            <a:endParaRPr/>
          </a:p>
        </p:txBody>
      </p:sp>
      <p:sp>
        <p:nvSpPr>
          <p:cNvPr id="364" name="Google Shape;364;p12"/>
          <p:cNvSpPr txBox="1"/>
          <p:nvPr/>
        </p:nvSpPr>
        <p:spPr>
          <a:xfrm>
            <a:off x="731520" y="4133625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ROM Code Tasks (ARM SoC):</a:t>
            </a:r>
            <a:endParaRPr/>
          </a:p>
        </p:txBody>
      </p:sp>
      <p:sp>
        <p:nvSpPr>
          <p:cNvPr id="365" name="Google Shape;365;p12"/>
          <p:cNvSpPr txBox="1"/>
          <p:nvPr/>
        </p:nvSpPr>
        <p:spPr>
          <a:xfrm>
            <a:off x="731520" y="4590825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Minimal init: clock, watchdog, CPU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DRAM NOT available — only SRAM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Scan boot device: SD → eMMC → USB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Load SPL vào Internal SRAM (~60KB)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Jump to SPL entry point</a:t>
            </a:r>
            <a:endParaRPr/>
          </a:p>
        </p:txBody>
      </p:sp>
      <p:sp>
        <p:nvSpPr>
          <p:cNvPr id="366" name="Google Shape;366;p12"/>
          <p:cNvSpPr txBox="1"/>
          <p:nvPr/>
        </p:nvSpPr>
        <p:spPr>
          <a:xfrm>
            <a:off x="6400800" y="4133625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Memory Map (AM335x):</a:t>
            </a:r>
            <a:endParaRPr/>
          </a:p>
        </p:txBody>
      </p:sp>
      <p:sp>
        <p:nvSpPr>
          <p:cNvPr id="367" name="Google Shape;367;p12"/>
          <p:cNvSpPr txBox="1"/>
          <p:nvPr/>
        </p:nvSpPr>
        <p:spPr>
          <a:xfrm>
            <a:off x="6400800" y="4590825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ROM: 0x00020000 (176KB)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SRAM: 0x40200000 (128KB) ← SPL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DDR: 0x80000000 (512MB) ← U-Boot Full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Kernel, DTB, Rootfs go here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2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XII. U-BOOT BOOTLOADER — MULTI-STAGE</a:t>
            </a:r>
            <a:endParaRPr/>
          </a:p>
        </p:txBody>
      </p:sp>
      <p:sp>
        <p:nvSpPr>
          <p:cNvPr id="373" name="Google Shape;373;p13"/>
          <p:cNvSpPr txBox="1"/>
          <p:nvPr/>
        </p:nvSpPr>
        <p:spPr>
          <a:xfrm>
            <a:off x="731520" y="9144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2-stage bootloader (SPL → Full U-Boot) due to limited SRAM:</a:t>
            </a:r>
            <a:endParaRPr/>
          </a:p>
        </p:txBody>
      </p:sp>
      <p:sp>
        <p:nvSpPr>
          <p:cNvPr id="374" name="Google Shape;374;p13"/>
          <p:cNvSpPr/>
          <p:nvPr/>
        </p:nvSpPr>
        <p:spPr>
          <a:xfrm>
            <a:off x="731520" y="1371600"/>
            <a:ext cx="2560320" cy="201168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FF8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3"/>
          <p:cNvSpPr txBox="1"/>
          <p:nvPr/>
        </p:nvSpPr>
        <p:spPr>
          <a:xfrm>
            <a:off x="868680" y="150876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8C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ROM Code</a:t>
            </a:r>
            <a:endParaRPr/>
          </a:p>
        </p:txBody>
      </p:sp>
      <p:sp>
        <p:nvSpPr>
          <p:cNvPr id="376" name="Google Shape;376;p13"/>
          <p:cNvSpPr txBox="1"/>
          <p:nvPr/>
        </p:nvSpPr>
        <p:spPr>
          <a:xfrm>
            <a:off x="868680" y="2148840"/>
            <a:ext cx="2286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Hard-coded</a:t>
            </a:r>
            <a:b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~176KB</a:t>
            </a:r>
            <a:endParaRPr/>
          </a:p>
        </p:txBody>
      </p:sp>
      <p:sp>
        <p:nvSpPr>
          <p:cNvPr id="377" name="Google Shape;377;p13"/>
          <p:cNvSpPr/>
          <p:nvPr/>
        </p:nvSpPr>
        <p:spPr>
          <a:xfrm>
            <a:off x="3657600" y="1371600"/>
            <a:ext cx="2560320" cy="201168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00D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3"/>
          <p:cNvSpPr txBox="1"/>
          <p:nvPr/>
        </p:nvSpPr>
        <p:spPr>
          <a:xfrm>
            <a:off x="3794760" y="150876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SPL</a:t>
            </a:r>
            <a:br>
              <a:rPr b="1" i="0" lang="en-US" sz="15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5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(MLO)</a:t>
            </a:r>
            <a:endParaRPr/>
          </a:p>
        </p:txBody>
      </p:sp>
      <p:sp>
        <p:nvSpPr>
          <p:cNvPr id="379" name="Google Shape;379;p13"/>
          <p:cNvSpPr txBox="1"/>
          <p:nvPr/>
        </p:nvSpPr>
        <p:spPr>
          <a:xfrm>
            <a:off x="3794760" y="2148840"/>
            <a:ext cx="2286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SRAM</a:t>
            </a:r>
            <a:b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~60KB</a:t>
            </a:r>
            <a:endParaRPr/>
          </a:p>
        </p:txBody>
      </p:sp>
      <p:sp>
        <p:nvSpPr>
          <p:cNvPr id="380" name="Google Shape;380;p13"/>
          <p:cNvSpPr/>
          <p:nvPr/>
        </p:nvSpPr>
        <p:spPr>
          <a:xfrm>
            <a:off x="6583680" y="1371600"/>
            <a:ext cx="2560320" cy="201168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 txBox="1"/>
          <p:nvPr/>
        </p:nvSpPr>
        <p:spPr>
          <a:xfrm>
            <a:off x="6720840" y="150876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U-Boot Full</a:t>
            </a:r>
            <a:endParaRPr/>
          </a:p>
        </p:txBody>
      </p:sp>
      <p:sp>
        <p:nvSpPr>
          <p:cNvPr id="382" name="Google Shape;382;p13"/>
          <p:cNvSpPr txBox="1"/>
          <p:nvPr/>
        </p:nvSpPr>
        <p:spPr>
          <a:xfrm>
            <a:off x="6720840" y="2148840"/>
            <a:ext cx="2286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DDR</a:t>
            </a:r>
            <a:b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~500KB</a:t>
            </a:r>
            <a:endParaRPr/>
          </a:p>
        </p:txBody>
      </p:sp>
      <p:sp>
        <p:nvSpPr>
          <p:cNvPr id="383" name="Google Shape;383;p13"/>
          <p:cNvSpPr txBox="1"/>
          <p:nvPr/>
        </p:nvSpPr>
        <p:spPr>
          <a:xfrm>
            <a:off x="731520" y="35661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SPL (Secondary Program Loader) — chạy từ SRAM:</a:t>
            </a:r>
            <a:endParaRPr/>
          </a:p>
        </p:txBody>
      </p:sp>
      <p:sp>
        <p:nvSpPr>
          <p:cNvPr id="384" name="Google Shape;384;p13"/>
          <p:cNvSpPr txBox="1"/>
          <p:nvPr/>
        </p:nvSpPr>
        <p:spPr>
          <a:xfrm>
            <a:off x="731520" y="3977639"/>
            <a:ext cx="10058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① Init DDR3/4 SDRAM controller (DDR becomes available)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② Init clock tree, power management (PMIC)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③ Init storage controller (MMC/eMMC/NAND)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④ Load U-Boot Full từ storage vào DDR @ 0x80800000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⑤ Jump to U-Boot Full entry point</a:t>
            </a:r>
            <a:endParaRPr/>
          </a:p>
        </p:txBody>
      </p:sp>
      <p:sp>
        <p:nvSpPr>
          <p:cNvPr id="385" name="Google Shape;385;p13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8C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U-Boot Full Tasks: Init hardware | Load kernel + DTB | Setup bootargs | Jump to kernel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2F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4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XIII. KERNEL INITIALIZATION &amp; DECOMPRESSION</a:t>
            </a:r>
            <a:endParaRPr/>
          </a:p>
        </p:txBody>
      </p:sp>
      <p:sp>
        <p:nvSpPr>
          <p:cNvPr id="391" name="Google Shape;391;p14"/>
          <p:cNvSpPr txBox="1"/>
          <p:nvPr/>
        </p:nvSpPr>
        <p:spPr>
          <a:xfrm>
            <a:off x="731520" y="1599219"/>
            <a:ext cx="10058400" cy="249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U-Boot load kernel image (zImage/Image) vào DRAM, thường tại 0x82000000 (ARM):</a:t>
            </a:r>
            <a:endParaRPr/>
          </a:p>
        </p:txBody>
      </p:sp>
      <p:sp>
        <p:nvSpPr>
          <p:cNvPr id="392" name="Google Shape;392;p14"/>
          <p:cNvSpPr txBox="1"/>
          <p:nvPr/>
        </p:nvSpPr>
        <p:spPr>
          <a:xfrm>
            <a:off x="731520" y="1969136"/>
            <a:ext cx="502920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Kernel Decompression (zImage):</a:t>
            </a:r>
            <a:endParaRPr/>
          </a:p>
        </p:txBody>
      </p:sp>
      <p:sp>
        <p:nvSpPr>
          <p:cNvPr id="393" name="Google Shape;393;p14"/>
          <p:cNvSpPr txBox="1"/>
          <p:nvPr/>
        </p:nvSpPr>
        <p:spPr>
          <a:xfrm>
            <a:off x="731520" y="2488681"/>
            <a:ext cx="5029200" cy="2493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1️⃣ U-Boot load compressed zImage → 0x82000000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2️⃣ head.S decompressor runs, checks for overlap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3️⃣ Giải nén kernel → 0x8000_8000 (TEXT_OFFSET)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4️⃣ Flush cache, turn off MMU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5️⃣ Jump to start_kernel() — Linux running!</a:t>
            </a:r>
            <a:endParaRPr/>
          </a:p>
        </p:txBody>
      </p:sp>
      <p:sp>
        <p:nvSpPr>
          <p:cNvPr id="394" name="Google Shape;394;p14"/>
          <p:cNvSpPr txBox="1"/>
          <p:nvPr/>
        </p:nvSpPr>
        <p:spPr>
          <a:xfrm>
            <a:off x="6035040" y="1969136"/>
            <a:ext cx="530352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Kernel Early Boot:</a:t>
            </a:r>
            <a:endParaRPr/>
          </a:p>
        </p:txBody>
      </p:sp>
      <p:sp>
        <p:nvSpPr>
          <p:cNvPr id="395" name="Google Shape;395;p14"/>
          <p:cNvSpPr txBox="1"/>
          <p:nvPr/>
        </p:nvSpPr>
        <p:spPr>
          <a:xfrm>
            <a:off x="6035040" y="2509463"/>
            <a:ext cx="5303520" cy="29094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setup_arch()  — ARM setup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mm_init()     — Memory management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setup_irq()   — Interrupt handlers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console_init()— Serial output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Probe drivers — UART, GPIO, MMC, Ethernet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Mount rootfs  — /dev/mmcblk0p2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exec /sbin/init — Start services</a:t>
            </a:r>
            <a:endParaRPr/>
          </a:p>
        </p:txBody>
      </p:sp>
      <p:sp>
        <p:nvSpPr>
          <p:cNvPr id="396" name="Google Shape;396;p14"/>
          <p:cNvSpPr txBox="1"/>
          <p:nvPr/>
        </p:nvSpPr>
        <p:spPr>
          <a:xfrm>
            <a:off x="731520" y="5548253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8C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Kernel Cmdline (truyền từ U-Boot):</a:t>
            </a:r>
            <a:endParaRPr/>
          </a:p>
        </p:txBody>
      </p:sp>
      <p:sp>
        <p:nvSpPr>
          <p:cNvPr id="397" name="Google Shape;397;p14"/>
          <p:cNvSpPr/>
          <p:nvPr/>
        </p:nvSpPr>
        <p:spPr>
          <a:xfrm>
            <a:off x="731520" y="6005453"/>
            <a:ext cx="10058400" cy="457200"/>
          </a:xfrm>
          <a:prstGeom prst="roundRect">
            <a:avLst>
              <a:gd fmla="val 16667" name="adj"/>
            </a:avLst>
          </a:prstGeom>
          <a:solidFill>
            <a:srgbClr val="1A3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 txBox="1"/>
          <p:nvPr/>
        </p:nvSpPr>
        <p:spPr>
          <a:xfrm>
            <a:off x="868680" y="6051173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D7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root=/dev/mmcblk0p2 rw console=ttyO0,115200n8 mem=512M initrd=0x88000000,10M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2F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5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XIV. BOOT OPTIMIZATION</a:t>
            </a:r>
            <a:endParaRPr/>
          </a:p>
        </p:txBody>
      </p:sp>
      <p:sp>
        <p:nvSpPr>
          <p:cNvPr id="404" name="Google Shape;404;p15"/>
          <p:cNvSpPr txBox="1"/>
          <p:nvPr/>
        </p:nvSpPr>
        <p:spPr>
          <a:xfrm>
            <a:off x="731520" y="9144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Bootloader Level:</a:t>
            </a:r>
            <a:endParaRPr/>
          </a:p>
        </p:txBody>
      </p:sp>
      <p:sp>
        <p:nvSpPr>
          <p:cNvPr id="405" name="Google Shape;405;p15"/>
          <p:cNvSpPr txBox="1"/>
          <p:nvPr/>
        </p:nvSpPr>
        <p:spPr>
          <a:xfrm>
            <a:off x="731520" y="1325880"/>
            <a:ext cx="3200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bootdelay=0 (no timeout)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Optimize load command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Disable I/O test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Early console output</a:t>
            </a:r>
            <a:endParaRPr/>
          </a:p>
        </p:txBody>
      </p:sp>
      <p:sp>
        <p:nvSpPr>
          <p:cNvPr id="406" name="Google Shape;406;p15"/>
          <p:cNvSpPr txBox="1"/>
          <p:nvPr/>
        </p:nvSpPr>
        <p:spPr>
          <a:xfrm>
            <a:off x="4114800" y="9144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Kernel Level:</a:t>
            </a:r>
            <a:endParaRPr/>
          </a:p>
        </p:txBody>
      </p:sp>
      <p:sp>
        <p:nvSpPr>
          <p:cNvPr id="407" name="Google Shape;407;p15"/>
          <p:cNvSpPr txBox="1"/>
          <p:nvPr/>
        </p:nvSpPr>
        <p:spPr>
          <a:xfrm>
            <a:off x="4114800" y="1325880"/>
            <a:ext cx="3200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Remove unused drivers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Disable CONFIG_DEBUG_*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Use initramfs (pre-loaded)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quiet/splash (no logging)</a:t>
            </a:r>
            <a:endParaRPr/>
          </a:p>
        </p:txBody>
      </p:sp>
      <p:sp>
        <p:nvSpPr>
          <p:cNvPr id="408" name="Google Shape;408;p15"/>
          <p:cNvSpPr txBox="1"/>
          <p:nvPr/>
        </p:nvSpPr>
        <p:spPr>
          <a:xfrm>
            <a:off x="7498079" y="91440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8C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Init Level:</a:t>
            </a:r>
            <a:endParaRPr/>
          </a:p>
        </p:txBody>
      </p:sp>
      <p:sp>
        <p:nvSpPr>
          <p:cNvPr id="409" name="Google Shape;409;p15"/>
          <p:cNvSpPr txBox="1"/>
          <p:nvPr/>
        </p:nvSpPr>
        <p:spPr>
          <a:xfrm>
            <a:off x="7498079" y="1325880"/>
            <a:ext cx="39319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Parallel service start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Disable unnecessary services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Socket activation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Async mount (noatime)</a:t>
            </a:r>
            <a:endParaRPr/>
          </a:p>
        </p:txBody>
      </p:sp>
      <p:sp>
        <p:nvSpPr>
          <p:cNvPr id="410" name="Google Shape;410;p15"/>
          <p:cNvSpPr txBox="1"/>
          <p:nvPr/>
        </p:nvSpPr>
        <p:spPr>
          <a:xfrm>
            <a:off x="731520" y="28346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D7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Tools for Measuring Boot Time:</a:t>
            </a:r>
            <a:endParaRPr/>
          </a:p>
        </p:txBody>
      </p:sp>
      <p:sp>
        <p:nvSpPr>
          <p:cNvPr id="411" name="Google Shape;411;p15"/>
          <p:cNvSpPr/>
          <p:nvPr/>
        </p:nvSpPr>
        <p:spPr>
          <a:xfrm>
            <a:off x="731520" y="3291840"/>
            <a:ext cx="10058400" cy="45720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 txBox="1"/>
          <p:nvPr/>
        </p:nvSpPr>
        <p:spPr>
          <a:xfrm>
            <a:off x="868680" y="33375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D7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systemd-analyze</a:t>
            </a:r>
            <a:endParaRPr/>
          </a:p>
        </p:txBody>
      </p:sp>
      <p:sp>
        <p:nvSpPr>
          <p:cNvPr id="413" name="Google Shape;413;p15"/>
          <p:cNvSpPr txBox="1"/>
          <p:nvPr/>
        </p:nvSpPr>
        <p:spPr>
          <a:xfrm>
            <a:off x="3291840" y="33375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boot time + service breakdown</a:t>
            </a:r>
            <a:endParaRPr/>
          </a:p>
        </p:txBody>
      </p:sp>
      <p:sp>
        <p:nvSpPr>
          <p:cNvPr id="414" name="Google Shape;414;p15"/>
          <p:cNvSpPr/>
          <p:nvPr/>
        </p:nvSpPr>
        <p:spPr>
          <a:xfrm>
            <a:off x="731520" y="3840480"/>
            <a:ext cx="10058400" cy="45720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5"/>
          <p:cNvSpPr txBox="1"/>
          <p:nvPr/>
        </p:nvSpPr>
        <p:spPr>
          <a:xfrm>
            <a:off x="868680" y="38862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D7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 systemd-analyze blame</a:t>
            </a:r>
            <a:endParaRPr/>
          </a:p>
        </p:txBody>
      </p:sp>
      <p:sp>
        <p:nvSpPr>
          <p:cNvPr id="416" name="Google Shape;416;p15"/>
          <p:cNvSpPr txBox="1"/>
          <p:nvPr/>
        </p:nvSpPr>
        <p:spPr>
          <a:xfrm>
            <a:off x="3291840" y="3886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Which service is slowest</a:t>
            </a:r>
            <a:endParaRPr/>
          </a:p>
        </p:txBody>
      </p:sp>
      <p:sp>
        <p:nvSpPr>
          <p:cNvPr id="417" name="Google Shape;417;p15"/>
          <p:cNvSpPr/>
          <p:nvPr/>
        </p:nvSpPr>
        <p:spPr>
          <a:xfrm>
            <a:off x="731520" y="4389120"/>
            <a:ext cx="10058400" cy="45720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 txBox="1"/>
          <p:nvPr/>
        </p:nvSpPr>
        <p:spPr>
          <a:xfrm>
            <a:off x="868680" y="44348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D7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dmesg with timestamps</a:t>
            </a:r>
            <a:endParaRPr/>
          </a:p>
        </p:txBody>
      </p:sp>
      <p:sp>
        <p:nvSpPr>
          <p:cNvPr id="419" name="Google Shape;419;p15"/>
          <p:cNvSpPr txBox="1"/>
          <p:nvPr/>
        </p:nvSpPr>
        <p:spPr>
          <a:xfrm>
            <a:off x="3291840" y="44348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[0.000000] ... [1.234567] timing info</a:t>
            </a:r>
            <a:endParaRPr/>
          </a:p>
        </p:txBody>
      </p:sp>
      <p:sp>
        <p:nvSpPr>
          <p:cNvPr id="420" name="Google Shape;420;p15"/>
          <p:cNvSpPr/>
          <p:nvPr/>
        </p:nvSpPr>
        <p:spPr>
          <a:xfrm>
            <a:off x="731520" y="4937759"/>
            <a:ext cx="10058400" cy="45720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5"/>
          <p:cNvSpPr txBox="1"/>
          <p:nvPr/>
        </p:nvSpPr>
        <p:spPr>
          <a:xfrm>
            <a:off x="868680" y="4983479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D7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bootchart</a:t>
            </a:r>
            <a:endParaRPr/>
          </a:p>
        </p:txBody>
      </p:sp>
      <p:sp>
        <p:nvSpPr>
          <p:cNvPr id="422" name="Google Shape;422;p15"/>
          <p:cNvSpPr txBox="1"/>
          <p:nvPr/>
        </p:nvSpPr>
        <p:spPr>
          <a:xfrm>
            <a:off x="3291840" y="4983479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Visual boot process timeline</a:t>
            </a:r>
            <a:endParaRPr/>
          </a:p>
        </p:txBody>
      </p:sp>
      <p:sp>
        <p:nvSpPr>
          <p:cNvPr id="423" name="Google Shape;423;p15"/>
          <p:cNvSpPr txBox="1"/>
          <p:nvPr/>
        </p:nvSpPr>
        <p:spPr>
          <a:xfrm>
            <a:off x="731520" y="5634319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Desktop: ROM+GRUB 2s → Kernel 3s → systemd 2s = ~7-10s</a:t>
            </a:r>
            <a:br>
              <a:rPr b="1" i="0" lang="en-US" sz="12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b="1" i="0" lang="en-US" sz="12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2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Embedded: ROM+SPL 300ms → U-Boot 500ms → Kernel 1-2s → Init 100ms = ~1.5-2s</a:t>
            </a:r>
            <a:br>
              <a:rPr b="1" i="0" lang="en-US" sz="12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b="1" i="0" lang="en-US" sz="12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2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Optimized: ~ 500ms total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2F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6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XV. DEVICE TREE — FLEXIBLE HARDWARE CONFIG</a:t>
            </a:r>
            <a:endParaRPr/>
          </a:p>
        </p:txBody>
      </p:sp>
      <p:sp>
        <p:nvSpPr>
          <p:cNvPr id="429" name="Google Shape;429;p16"/>
          <p:cNvSpPr txBox="1"/>
          <p:nvPr/>
        </p:nvSpPr>
        <p:spPr>
          <a:xfrm>
            <a:off x="731520" y="1664743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Cũ: Hard-coded (❌ phải compile mỗi board)</a:t>
            </a:r>
            <a:endParaRPr/>
          </a:p>
        </p:txBody>
      </p:sp>
      <p:sp>
        <p:nvSpPr>
          <p:cNvPr id="430" name="Google Shape;430;p16"/>
          <p:cNvSpPr/>
          <p:nvPr/>
        </p:nvSpPr>
        <p:spPr>
          <a:xfrm>
            <a:off x="731520" y="2076223"/>
            <a:ext cx="5029200" cy="914400"/>
          </a:xfrm>
          <a:prstGeom prst="roundRect">
            <a:avLst>
              <a:gd fmla="val 16667" name="adj"/>
            </a:avLst>
          </a:prstGeom>
          <a:solidFill>
            <a:srgbClr val="3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6"/>
          <p:cNvSpPr txBox="1"/>
          <p:nvPr/>
        </p:nvSpPr>
        <p:spPr>
          <a:xfrm>
            <a:off x="868680" y="2167663"/>
            <a:ext cx="4754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#define GPIO_BASE 0x48000000</a:t>
            </a:r>
            <a:br>
              <a:rPr b="0" i="0" lang="en-US" sz="1100" u="none" cap="none" strike="noStrike">
                <a:solidFill>
                  <a:srgbClr val="F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100" u="none" cap="none" strike="noStrike">
                <a:solidFill>
                  <a:srgbClr val="F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#define UART_BASE 0x20000000</a:t>
            </a:r>
            <a:endParaRPr/>
          </a:p>
        </p:txBody>
      </p:sp>
      <p:sp>
        <p:nvSpPr>
          <p:cNvPr id="432" name="Google Shape;432;p16"/>
          <p:cNvSpPr txBox="1"/>
          <p:nvPr/>
        </p:nvSpPr>
        <p:spPr>
          <a:xfrm>
            <a:off x="731520" y="3127783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Mới: Device Tree (✓ 1 kernel → n boards)</a:t>
            </a:r>
            <a:endParaRPr/>
          </a:p>
        </p:txBody>
      </p:sp>
      <p:sp>
        <p:nvSpPr>
          <p:cNvPr id="433" name="Google Shape;433;p16"/>
          <p:cNvSpPr/>
          <p:nvPr/>
        </p:nvSpPr>
        <p:spPr>
          <a:xfrm>
            <a:off x="731520" y="3539263"/>
            <a:ext cx="5029200" cy="1645920"/>
          </a:xfrm>
          <a:prstGeom prst="roundRect">
            <a:avLst>
              <a:gd fmla="val 16667" name="adj"/>
            </a:avLst>
          </a:prstGeom>
          <a:solidFill>
            <a:srgbClr val="1A3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6"/>
          <p:cNvSpPr txBox="1"/>
          <p:nvPr/>
        </p:nvSpPr>
        <p:spPr>
          <a:xfrm>
            <a:off x="868680" y="3630703"/>
            <a:ext cx="47548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 {</a:t>
            </a:r>
            <a:br>
              <a:rPr b="0" i="0" lang="en-US" sz="10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0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uart0: serial@44e09000 {</a:t>
            </a:r>
            <a:br>
              <a:rPr b="0" i="0" lang="en-US" sz="10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0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compatible = "ti,omap3-uart";</a:t>
            </a:r>
            <a:br>
              <a:rPr b="0" i="0" lang="en-US" sz="10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0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reg = &lt;0x44e09000 0x1000&gt;;</a:t>
            </a:r>
            <a:br>
              <a:rPr b="0" i="0" lang="en-US" sz="10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0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interrupts = &lt;72&gt;;</a:t>
            </a:r>
            <a:br>
              <a:rPr b="0" i="0" lang="en-US" sz="10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0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};</a:t>
            </a:r>
            <a:br>
              <a:rPr b="0" i="0" lang="en-US" sz="10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0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}</a:t>
            </a:r>
            <a:endParaRPr/>
          </a:p>
        </p:txBody>
      </p:sp>
      <p:sp>
        <p:nvSpPr>
          <p:cNvPr id="435" name="Google Shape;435;p16"/>
          <p:cNvSpPr txBox="1"/>
          <p:nvPr/>
        </p:nvSpPr>
        <p:spPr>
          <a:xfrm>
            <a:off x="6035040" y="1664743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Device Tree Benefits:</a:t>
            </a:r>
            <a:endParaRPr/>
          </a:p>
        </p:txBody>
      </p:sp>
      <p:sp>
        <p:nvSpPr>
          <p:cNvPr id="436" name="Google Shape;436;p16"/>
          <p:cNvSpPr txBox="1"/>
          <p:nvPr/>
        </p:nvSpPr>
        <p:spPr>
          <a:xfrm>
            <a:off x="6035040" y="2076223"/>
            <a:ext cx="548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1 kernel image → nhiều boards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Thay đổi hardware → chỉ đổi DTB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Không cần recompile kernel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Flexible hardware description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Firmware-driven boot</a:t>
            </a:r>
            <a:endParaRPr/>
          </a:p>
        </p:txBody>
      </p:sp>
      <p:sp>
        <p:nvSpPr>
          <p:cNvPr id="437" name="Google Shape;437;p16"/>
          <p:cNvSpPr txBox="1"/>
          <p:nvPr/>
        </p:nvSpPr>
        <p:spPr>
          <a:xfrm>
            <a:off x="6035040" y="4956583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8C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Device Tree Load Address (U-Boot → Kernel):</a:t>
            </a:r>
            <a:endParaRPr/>
          </a:p>
        </p:txBody>
      </p:sp>
      <p:sp>
        <p:nvSpPr>
          <p:cNvPr id="438" name="Google Shape;438;p16"/>
          <p:cNvSpPr txBox="1"/>
          <p:nvPr/>
        </p:nvSpPr>
        <p:spPr>
          <a:xfrm>
            <a:off x="6035040" y="5413783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AM335x: 0x88000000 (50-100KB)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i.MX6: 0x18000000 (DTB size)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Generic: varies (platform-specific)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2F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7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XVI. BEAGLEBONE BLACK: COMPLETE BOOT SEQUENCE</a:t>
            </a:r>
            <a:endParaRPr/>
          </a:p>
        </p:txBody>
      </p:sp>
      <p:sp>
        <p:nvSpPr>
          <p:cNvPr id="444" name="Google Shape;444;p17"/>
          <p:cNvSpPr txBox="1"/>
          <p:nvPr/>
        </p:nvSpPr>
        <p:spPr>
          <a:xfrm>
            <a:off x="731520" y="1422697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 AM335x Cortex-A8 — Multi-stage boot with timing breakdown:</a:t>
            </a:r>
            <a:endParaRPr/>
          </a:p>
        </p:txBody>
      </p:sp>
      <p:sp>
        <p:nvSpPr>
          <p:cNvPr id="445" name="Google Shape;445;p17"/>
          <p:cNvSpPr/>
          <p:nvPr/>
        </p:nvSpPr>
        <p:spPr>
          <a:xfrm>
            <a:off x="731520" y="1828798"/>
            <a:ext cx="10058400" cy="36576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FF8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7"/>
          <p:cNvSpPr txBox="1"/>
          <p:nvPr/>
        </p:nvSpPr>
        <p:spPr>
          <a:xfrm>
            <a:off x="868680" y="185623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8C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POWER ON</a:t>
            </a:r>
            <a:endParaRPr/>
          </a:p>
        </p:txBody>
      </p:sp>
      <p:sp>
        <p:nvSpPr>
          <p:cNvPr id="447" name="Google Shape;447;p17"/>
          <p:cNvSpPr txBox="1"/>
          <p:nvPr/>
        </p:nvSpPr>
        <p:spPr>
          <a:xfrm>
            <a:off x="2743200" y="185623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ROM Code reads SYSBOOT pins, scans SD card</a:t>
            </a:r>
            <a:endParaRPr/>
          </a:p>
        </p:txBody>
      </p:sp>
      <p:sp>
        <p:nvSpPr>
          <p:cNvPr id="448" name="Google Shape;448;p17"/>
          <p:cNvSpPr txBox="1"/>
          <p:nvPr/>
        </p:nvSpPr>
        <p:spPr>
          <a:xfrm>
            <a:off x="8229600" y="185623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8C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~50ms</a:t>
            </a:r>
            <a:endParaRPr/>
          </a:p>
        </p:txBody>
      </p:sp>
      <p:sp>
        <p:nvSpPr>
          <p:cNvPr id="449" name="Google Shape;449;p17"/>
          <p:cNvSpPr/>
          <p:nvPr/>
        </p:nvSpPr>
        <p:spPr>
          <a:xfrm>
            <a:off x="731520" y="2267710"/>
            <a:ext cx="10058400" cy="36576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FF8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7"/>
          <p:cNvSpPr txBox="1"/>
          <p:nvPr/>
        </p:nvSpPr>
        <p:spPr>
          <a:xfrm>
            <a:off x="868680" y="2295141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8C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ROM → SPL</a:t>
            </a:r>
            <a:endParaRPr/>
          </a:p>
        </p:txBody>
      </p:sp>
      <p:sp>
        <p:nvSpPr>
          <p:cNvPr id="451" name="Google Shape;451;p17"/>
          <p:cNvSpPr txBox="1"/>
          <p:nvPr/>
        </p:nvSpPr>
        <p:spPr>
          <a:xfrm>
            <a:off x="2743200" y="2295141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Load MLO from SD to SRAM (0x402F0400)</a:t>
            </a:r>
            <a:endParaRPr/>
          </a:p>
        </p:txBody>
      </p:sp>
      <p:sp>
        <p:nvSpPr>
          <p:cNvPr id="452" name="Google Shape;452;p17"/>
          <p:cNvSpPr txBox="1"/>
          <p:nvPr/>
        </p:nvSpPr>
        <p:spPr>
          <a:xfrm>
            <a:off x="8229600" y="2295141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8C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~50ms</a:t>
            </a:r>
            <a:endParaRPr/>
          </a:p>
        </p:txBody>
      </p:sp>
      <p:sp>
        <p:nvSpPr>
          <p:cNvPr id="453" name="Google Shape;453;p17"/>
          <p:cNvSpPr/>
          <p:nvPr/>
        </p:nvSpPr>
        <p:spPr>
          <a:xfrm>
            <a:off x="731520" y="2706622"/>
            <a:ext cx="10058400" cy="36576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00D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7"/>
          <p:cNvSpPr txBox="1"/>
          <p:nvPr/>
        </p:nvSpPr>
        <p:spPr>
          <a:xfrm>
            <a:off x="868680" y="2734054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SPL runs</a:t>
            </a:r>
            <a:endParaRPr/>
          </a:p>
        </p:txBody>
      </p:sp>
      <p:sp>
        <p:nvSpPr>
          <p:cNvPr id="455" name="Google Shape;455;p17"/>
          <p:cNvSpPr txBox="1"/>
          <p:nvPr/>
        </p:nvSpPr>
        <p:spPr>
          <a:xfrm>
            <a:off x="2743200" y="2734054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Init DDR3, PMIC, storage controller</a:t>
            </a:r>
            <a:endParaRPr/>
          </a:p>
        </p:txBody>
      </p:sp>
      <p:sp>
        <p:nvSpPr>
          <p:cNvPr id="456" name="Google Shape;456;p17"/>
          <p:cNvSpPr txBox="1"/>
          <p:nvPr/>
        </p:nvSpPr>
        <p:spPr>
          <a:xfrm>
            <a:off x="8229600" y="2734054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~100ms</a:t>
            </a:r>
            <a:endParaRPr/>
          </a:p>
        </p:txBody>
      </p:sp>
      <p:sp>
        <p:nvSpPr>
          <p:cNvPr id="457" name="Google Shape;457;p17"/>
          <p:cNvSpPr/>
          <p:nvPr/>
        </p:nvSpPr>
        <p:spPr>
          <a:xfrm>
            <a:off x="731520" y="3145534"/>
            <a:ext cx="10058400" cy="36576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00D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7"/>
          <p:cNvSpPr txBox="1"/>
          <p:nvPr/>
        </p:nvSpPr>
        <p:spPr>
          <a:xfrm>
            <a:off x="868680" y="3172966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SPL → U-Boot</a:t>
            </a:r>
            <a:endParaRPr/>
          </a:p>
        </p:txBody>
      </p:sp>
      <p:sp>
        <p:nvSpPr>
          <p:cNvPr id="459" name="Google Shape;459;p17"/>
          <p:cNvSpPr txBox="1"/>
          <p:nvPr/>
        </p:nvSpPr>
        <p:spPr>
          <a:xfrm>
            <a:off x="2743200" y="3172966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Load u-boot.img to DDR (0x80800000)</a:t>
            </a:r>
            <a:endParaRPr/>
          </a:p>
        </p:txBody>
      </p:sp>
      <p:sp>
        <p:nvSpPr>
          <p:cNvPr id="460" name="Google Shape;460;p17"/>
          <p:cNvSpPr txBox="1"/>
          <p:nvPr/>
        </p:nvSpPr>
        <p:spPr>
          <a:xfrm>
            <a:off x="8229600" y="317296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~100ms</a:t>
            </a:r>
            <a:endParaRPr/>
          </a:p>
        </p:txBody>
      </p:sp>
      <p:sp>
        <p:nvSpPr>
          <p:cNvPr id="461" name="Google Shape;461;p17"/>
          <p:cNvSpPr/>
          <p:nvPr/>
        </p:nvSpPr>
        <p:spPr>
          <a:xfrm>
            <a:off x="731520" y="3584446"/>
            <a:ext cx="10058400" cy="36576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7"/>
          <p:cNvSpPr txBox="1"/>
          <p:nvPr/>
        </p:nvSpPr>
        <p:spPr>
          <a:xfrm>
            <a:off x="868680" y="3611877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U-Boot runs</a:t>
            </a:r>
            <a:endParaRPr/>
          </a:p>
        </p:txBody>
      </p:sp>
      <p:sp>
        <p:nvSpPr>
          <p:cNvPr id="463" name="Google Shape;463;p17"/>
          <p:cNvSpPr txBox="1"/>
          <p:nvPr/>
        </p:nvSpPr>
        <p:spPr>
          <a:xfrm>
            <a:off x="2743200" y="3611877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Self-relocate, init hw, load zImage+DTB</a:t>
            </a:r>
            <a:endParaRPr/>
          </a:p>
        </p:txBody>
      </p:sp>
      <p:sp>
        <p:nvSpPr>
          <p:cNvPr id="464" name="Google Shape;464;p17"/>
          <p:cNvSpPr txBox="1"/>
          <p:nvPr/>
        </p:nvSpPr>
        <p:spPr>
          <a:xfrm>
            <a:off x="8229600" y="3611877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~500ms</a:t>
            </a:r>
            <a:endParaRPr/>
          </a:p>
        </p:txBody>
      </p:sp>
      <p:sp>
        <p:nvSpPr>
          <p:cNvPr id="465" name="Google Shape;465;p17"/>
          <p:cNvSpPr/>
          <p:nvPr/>
        </p:nvSpPr>
        <p:spPr>
          <a:xfrm>
            <a:off x="731520" y="4023358"/>
            <a:ext cx="10058400" cy="36576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00FF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7"/>
          <p:cNvSpPr txBox="1"/>
          <p:nvPr/>
        </p:nvSpPr>
        <p:spPr>
          <a:xfrm>
            <a:off x="868680" y="4050789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U-Boot → Kernel</a:t>
            </a:r>
            <a:endParaRPr/>
          </a:p>
        </p:txBody>
      </p:sp>
      <p:sp>
        <p:nvSpPr>
          <p:cNvPr id="467" name="Google Shape;467;p17"/>
          <p:cNvSpPr txBox="1"/>
          <p:nvPr/>
        </p:nvSpPr>
        <p:spPr>
          <a:xfrm>
            <a:off x="2743200" y="4050789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Load kernel to 0x82000000, DTB to 0x88000000</a:t>
            </a:r>
            <a:endParaRPr/>
          </a:p>
        </p:txBody>
      </p:sp>
      <p:sp>
        <p:nvSpPr>
          <p:cNvPr id="468" name="Google Shape;468;p17"/>
          <p:cNvSpPr txBox="1"/>
          <p:nvPr/>
        </p:nvSpPr>
        <p:spPr>
          <a:xfrm>
            <a:off x="8229600" y="4050789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~50ms</a:t>
            </a:r>
            <a:endParaRPr/>
          </a:p>
        </p:txBody>
      </p:sp>
      <p:sp>
        <p:nvSpPr>
          <p:cNvPr id="469" name="Google Shape;469;p17"/>
          <p:cNvSpPr/>
          <p:nvPr/>
        </p:nvSpPr>
        <p:spPr>
          <a:xfrm>
            <a:off x="731520" y="4462270"/>
            <a:ext cx="10058400" cy="36576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7"/>
          <p:cNvSpPr txBox="1"/>
          <p:nvPr/>
        </p:nvSpPr>
        <p:spPr>
          <a:xfrm>
            <a:off x="868680" y="4489702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D7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Kernel boot</a:t>
            </a:r>
            <a:endParaRPr/>
          </a:p>
        </p:txBody>
      </p:sp>
      <p:sp>
        <p:nvSpPr>
          <p:cNvPr id="471" name="Google Shape;471;p17"/>
          <p:cNvSpPr txBox="1"/>
          <p:nvPr/>
        </p:nvSpPr>
        <p:spPr>
          <a:xfrm>
            <a:off x="2743200" y="4489702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Decompress, init drivers, probe MMC</a:t>
            </a:r>
            <a:endParaRPr/>
          </a:p>
        </p:txBody>
      </p:sp>
      <p:sp>
        <p:nvSpPr>
          <p:cNvPr id="472" name="Google Shape;472;p17"/>
          <p:cNvSpPr txBox="1"/>
          <p:nvPr/>
        </p:nvSpPr>
        <p:spPr>
          <a:xfrm>
            <a:off x="8229600" y="448970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D7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~1000ms</a:t>
            </a:r>
            <a:endParaRPr/>
          </a:p>
        </p:txBody>
      </p:sp>
      <p:sp>
        <p:nvSpPr>
          <p:cNvPr id="473" name="Google Shape;473;p17"/>
          <p:cNvSpPr/>
          <p:nvPr/>
        </p:nvSpPr>
        <p:spPr>
          <a:xfrm>
            <a:off x="731520" y="4901181"/>
            <a:ext cx="10058400" cy="36576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7"/>
          <p:cNvSpPr txBox="1"/>
          <p:nvPr/>
        </p:nvSpPr>
        <p:spPr>
          <a:xfrm>
            <a:off x="868680" y="4928614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D7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Mount rootfs</a:t>
            </a:r>
            <a:endParaRPr/>
          </a:p>
        </p:txBody>
      </p:sp>
      <p:sp>
        <p:nvSpPr>
          <p:cNvPr id="475" name="Google Shape;475;p17"/>
          <p:cNvSpPr txBox="1"/>
          <p:nvPr/>
        </p:nvSpPr>
        <p:spPr>
          <a:xfrm>
            <a:off x="2743200" y="4928614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Mount /dev/mmcblk0p2 (ext4)</a:t>
            </a:r>
            <a:endParaRPr/>
          </a:p>
        </p:txBody>
      </p:sp>
      <p:sp>
        <p:nvSpPr>
          <p:cNvPr id="476" name="Google Shape;476;p17"/>
          <p:cNvSpPr txBox="1"/>
          <p:nvPr/>
        </p:nvSpPr>
        <p:spPr>
          <a:xfrm>
            <a:off x="8229600" y="4928614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D7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~100ms</a:t>
            </a:r>
            <a:endParaRPr/>
          </a:p>
        </p:txBody>
      </p:sp>
      <p:sp>
        <p:nvSpPr>
          <p:cNvPr id="477" name="Google Shape;477;p17"/>
          <p:cNvSpPr/>
          <p:nvPr/>
        </p:nvSpPr>
        <p:spPr>
          <a:xfrm>
            <a:off x="731520" y="5340094"/>
            <a:ext cx="10058400" cy="365760"/>
          </a:xfrm>
          <a:prstGeom prst="roundRect">
            <a:avLst>
              <a:gd fmla="val 16667" name="adj"/>
            </a:avLst>
          </a:prstGeom>
          <a:solidFill>
            <a:srgbClr val="1E2D4A"/>
          </a:solidFill>
          <a:ln cap="flat" cmpd="sng" w="25400">
            <a:solidFill>
              <a:srgbClr val="FF69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7"/>
          <p:cNvSpPr txBox="1"/>
          <p:nvPr/>
        </p:nvSpPr>
        <p:spPr>
          <a:xfrm>
            <a:off x="868680" y="5367526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69B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systemd/init</a:t>
            </a:r>
            <a:endParaRPr/>
          </a:p>
        </p:txBody>
      </p:sp>
      <p:sp>
        <p:nvSpPr>
          <p:cNvPr id="479" name="Google Shape;479;p17"/>
          <p:cNvSpPr txBox="1"/>
          <p:nvPr/>
        </p:nvSpPr>
        <p:spPr>
          <a:xfrm>
            <a:off x="2743200" y="5367526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Start services, login prompt ready</a:t>
            </a:r>
            <a:endParaRPr/>
          </a:p>
        </p:txBody>
      </p:sp>
      <p:sp>
        <p:nvSpPr>
          <p:cNvPr id="480" name="Google Shape;480;p17"/>
          <p:cNvSpPr txBox="1"/>
          <p:nvPr/>
        </p:nvSpPr>
        <p:spPr>
          <a:xfrm>
            <a:off x="8229600" y="536752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69B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~100ms</a:t>
            </a:r>
            <a:endParaRPr/>
          </a:p>
        </p:txBody>
      </p:sp>
      <p:sp>
        <p:nvSpPr>
          <p:cNvPr id="481" name="Google Shape;481;p17"/>
          <p:cNvSpPr txBox="1"/>
          <p:nvPr/>
        </p:nvSpPr>
        <p:spPr>
          <a:xfrm>
            <a:off x="731520" y="5854849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TOTAL: ~50+50+100+100+500+50+1000+100+100 = ~2 seconds ⚡</a:t>
            </a:r>
            <a:endParaRPr/>
          </a:p>
        </p:txBody>
      </p:sp>
      <p:sp>
        <p:nvSpPr>
          <p:cNvPr id="482" name="Google Shape;482;p17"/>
          <p:cNvSpPr txBox="1"/>
          <p:nvPr/>
        </p:nvSpPr>
        <p:spPr>
          <a:xfrm>
            <a:off x="731520" y="63550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Components: ROM Code (hard-coded) → MLO/SPL (SRAM) → u-boot.img (DDR) → zImage (DDR) → vmlinux (DDR)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2F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8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XVII. REAL BOOT LOG OUTPUT</a:t>
            </a:r>
            <a:endParaRPr/>
          </a:p>
        </p:txBody>
      </p:sp>
      <p:sp>
        <p:nvSpPr>
          <p:cNvPr id="488" name="Google Shape;488;p18"/>
          <p:cNvSpPr txBox="1"/>
          <p:nvPr/>
        </p:nvSpPr>
        <p:spPr>
          <a:xfrm>
            <a:off x="365760" y="914400"/>
            <a:ext cx="11430000" cy="566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U-Boot SPL 2024.01 (Jan 15 2024 - 10:23:45 +0000)</a:t>
            </a: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Trying to boot from MMC1</a:t>
            </a: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*** Done in 235ms ***</a:t>
            </a: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U-Boot 2024.01 (Jan 15 2024 - 10:23:45 +0000)</a:t>
            </a: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DRAM:  512 MiB (effective 512 MiB, 496 MiB usable)</a:t>
            </a: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Model: TI AM335x BeagleBone Black</a:t>
            </a: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... board init ...</a:t>
            </a: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any key to stop autoboot:  3</a:t>
            </a: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## Booting kernel from Legacy Image at 82000000 ...</a:t>
            </a: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Image Name:   Linux-5.15.0</a:t>
            </a: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Data Size:    4325376 Bytes = 4.1 MiB</a:t>
            </a: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Load Address: 80008000</a:t>
            </a: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Entry Point:  80008000</a:t>
            </a: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## Flattened Device Tree blob at 88000000</a:t>
            </a: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Loading Device Tree to 8ffec000 ... OK</a:t>
            </a: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Starting kernel ...</a:t>
            </a: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    0.000000] Booting Linux on physical CPU 0x0</a:t>
            </a: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    0.000000] Linux version 5.15.0-arm-linux (gcc 11.3.0)</a:t>
            </a: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    0.000000] CPU: ARMv7 Processor [412fc09a] revision 10 (ARMv7)</a:t>
            </a: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    0.000000] Machine model: TI AM335x BeagleBone Black</a:t>
            </a: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    0.000000] Memory: 496064K/524288K available</a:t>
            </a: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    0.030000] SLUB: HWalign=64, Order=0-3, MinObjects=0, CPUs=1, Nodes=1</a:t>
            </a: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...</a:t>
            </a: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    1.234567] EXT4-fs (mmcblk0p2): mounted filesystem</a:t>
            </a: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    1.450000] VFS: Mounted root (ext4 filesystem) readonly</a:t>
            </a: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    1.562000] devtmpfs: mounted</a:t>
            </a: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    1.789000] Freeing unused kernel memory: 2344K</a:t>
            </a: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    2.123000] systemd[1]: systemd 250.3+ running in system mode</a:t>
            </a: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    2.456000] systemd[1]: Started Load Kernel Modules.</a:t>
            </a: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    2.789000] systemd[1]: Startup finished in 344ms.</a:t>
            </a: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Welcome to BeagleBone Black!</a:t>
            </a: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login: root</a:t>
            </a:r>
            <a:b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#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2F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9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XVIII. KEY TAKEAWAY</a:t>
            </a:r>
            <a:endParaRPr/>
          </a:p>
        </p:txBody>
      </p:sp>
      <p:sp>
        <p:nvSpPr>
          <p:cNvPr id="494" name="Google Shape;494;p19"/>
          <p:cNvSpPr txBox="1"/>
          <p:nvPr/>
        </p:nvSpPr>
        <p:spPr>
          <a:xfrm>
            <a:off x="914400" y="1554480"/>
            <a:ext cx="100584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</a:t>
            </a:r>
            <a:r>
              <a:rPr b="0" i="0" lang="en-US" sz="15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Linux Kernel quản lý tài nguyên → device drivers, memory, I/O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</a:t>
            </a:r>
            <a:r>
              <a:rPr b="0" i="0" lang="en-US" sz="15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Embedded Linux tối ưu cho thiết bị cụ thể → small footprint, fast boot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</a:t>
            </a:r>
            <a:r>
              <a:rPr b="0" i="0" lang="en-US" sz="15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SoC/MCU heterogeneous architecture → Linux (software) + MCU (real-time control)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</a:t>
            </a:r>
            <a:r>
              <a:rPr b="0" i="0" lang="en-US" sz="15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Boot process phức tạp → ROM → SPL → U-Boot → Kernel → systemd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</a:t>
            </a:r>
            <a:r>
              <a:rPr b="0" i="0" lang="en-US" sz="15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Device Tree giữ kernel generic → 1 kernel → nhiều boards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</a:t>
            </a:r>
            <a:r>
              <a:rPr b="0" i="0" lang="en-US" sz="15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Performance tuning ở mỗi layer → bootloader, kernel, init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2F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0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XIX. SKILLS TO MASTER</a:t>
            </a:r>
            <a:endParaRPr/>
          </a:p>
        </p:txBody>
      </p:sp>
      <p:sp>
        <p:nvSpPr>
          <p:cNvPr id="500" name="Google Shape;500;p20"/>
          <p:cNvSpPr txBox="1"/>
          <p:nvPr/>
        </p:nvSpPr>
        <p:spPr>
          <a:xfrm>
            <a:off x="731520" y="914400"/>
            <a:ext cx="5303520" cy="5760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Linux Fundamentals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• Shell commands, file system, permissions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• Process management, user/group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C Programming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• Systems programming, memory management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• Pointer, linked list, kernel data structures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ARM Architecture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• CPU registers, memory layout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• Instruction set, exception handling</a:t>
            </a:r>
            <a:endParaRPr/>
          </a:p>
        </p:txBody>
      </p:sp>
      <p:sp>
        <p:nvSpPr>
          <p:cNvPr id="501" name="Google Shape;501;p20"/>
          <p:cNvSpPr txBox="1"/>
          <p:nvPr/>
        </p:nvSpPr>
        <p:spPr>
          <a:xfrm>
            <a:off x="6583680" y="914400"/>
            <a:ext cx="5029200" cy="5760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Linux Kernel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• Kernel modules, system calls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• Driver development, interrupts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 Device Tree &amp; Build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• Yocto, Buildroot, device tree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• Compilation, linking, relocation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 Bootloader &amp; Boot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• U-Boot, kernel decompression</a:t>
            </a:r>
            <a:b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• Device initialization sequence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B2F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fmla="val 16667" name="adj"/>
            </a:avLst>
          </a:prstGeom>
          <a:solidFill>
            <a:srgbClr val="0D0D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CẢM ƠN CÁC BẠN!</a:t>
            </a:r>
            <a:endParaRPr/>
          </a:p>
        </p:txBody>
      </p:sp>
      <p:sp>
        <p:nvSpPr>
          <p:cNvPr id="508" name="Google Shape;508;p21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Embedded Linux Engineering là hành trình thú vị kết hợp</a:t>
            </a:r>
            <a:br>
              <a:rPr b="0" i="0" lang="en-US" sz="20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20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Software (Kernel, Drivers) + Hardware (SoC, MCU)</a:t>
            </a:r>
            <a:br>
              <a:rPr b="0" i="0" lang="en-US" sz="20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b="0" i="0" lang="en-US" sz="20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2000" u="none" cap="none" strike="noStrike">
                <a:solidFill>
                  <a:srgbClr val="BBBB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Các bạn hôm nay có thể trở thành brilliant engineers ngày mai!</a:t>
            </a:r>
            <a:endParaRPr/>
          </a:p>
        </p:txBody>
      </p:sp>
      <p:sp>
        <p:nvSpPr>
          <p:cNvPr id="509" name="Google Shape;509;p21"/>
          <p:cNvSpPr txBox="1"/>
          <p:nvPr/>
        </p:nvSpPr>
        <p:spPr>
          <a:xfrm>
            <a:off x="914400" y="484632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Questions? Let's discuss!</a:t>
            </a:r>
            <a:br>
              <a:rPr b="0" i="0" lang="en-US" sz="15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br>
              <a:rPr b="0" i="0" lang="en-US" sz="15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500" u="none" cap="none" strike="noStrike">
                <a:solidFill>
                  <a:srgbClr val="00FF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Linux kernel source: kernel.org | Yocto: yoctoproject.org | eLinux: elinux.org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